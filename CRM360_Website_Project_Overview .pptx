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595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4" Type="http://schemas.openxmlformats.org/officeDocument/2006/relationships/image" Target="../media/image22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6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11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12.png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4.png"/><Relationship Id="rId4" Type="http://schemas.openxmlformats.org/officeDocument/2006/relationships/image" Target="../media/image35.png"/><Relationship Id="rId9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05686" cy="310896"/>
          </a:xfrm>
          <a:prstGeom prst="roundRect">
            <a:avLst>
              <a:gd name="adj" fmla="val 50000"/>
            </a:avLst>
          </a:prstGeom>
          <a:solidFill>
            <a:srgbClr val="2563EB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4904"/>
            <a:ext cx="16056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CRM360?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Relationship Management platform that gives a business one secure dashboard to manage customers, leads and performance.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64922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011680"/>
            <a:ext cx="5852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
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details, leads and sales numbers often live in scattered spreadsheets and chat threads, making it hard for a growing business to track relationships or spot trends.
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
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CRM360 centralizes customer records, lead tracking and revenue analytics into one smart, secure workspace — so a sales team always knows where a deal stands.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78040" y="1783080"/>
            <a:ext cx="4553712" cy="2331720"/>
          </a:xfrm>
          <a:prstGeom prst="roundRect">
            <a:avLst>
              <a:gd name="adj" fmla="val 3529"/>
            </a:avLst>
          </a:prstGeom>
          <a:solidFill>
            <a:srgbClr val="0F1730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52360" y="1965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52360" y="2423160"/>
            <a:ext cx="82296" cy="8229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7662672" y="2331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business teams tracking leads and deals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52360" y="2990088"/>
            <a:ext cx="82296" cy="8229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7662672" y="28986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administrators managing customers &amp; settings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52360" y="3557016"/>
            <a:ext cx="82296" cy="8229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7662672" y="346557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reviewing revenue &amp; conversion analytics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343400"/>
            <a:ext cx="270662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4544568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8" name="Image 0" descr="/home/claude/crm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" y="4675327"/>
            <a:ext cx="241402" cy="24140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0080" y="521208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5568696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customer information easily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64408" y="4343400"/>
            <a:ext cx="270662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465576" y="4544568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3" name="Image 1" descr="/home/claude/crm/icons/targ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6335" y="4675327"/>
            <a:ext cx="241402" cy="24140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447288" y="521208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Tracking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3447288" y="5568696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leads from new to converted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071616" y="4343400"/>
            <a:ext cx="270662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272784" y="4544568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28" name="Image 2" descr="/home/claude/crm/icons/bar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3543" y="4675327"/>
            <a:ext cx="241402" cy="24140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254496" y="521208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6254496" y="5568696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growth and performance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8878824" y="4343400"/>
            <a:ext cx="270662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9079992" y="4544568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3" name="Image 3" descr="/home/claude/crm/icons/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0751" y="4675327"/>
            <a:ext cx="241402" cy="24140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061704" y="521208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Workspace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9061704" y="5568696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Protected, authenticated business environment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CRM360 · Project Overview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1989" cy="310896"/>
          </a:xfrm>
          <a:prstGeom prst="roundRect">
            <a:avLst>
              <a:gd name="adj" fmla="val 50000"/>
            </a:avLst>
          </a:prstGeom>
          <a:solidFill>
            <a:srgbClr val="7C3AED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4904"/>
            <a:ext cx="12819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Pages &amp; UI 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tour of the core screens — the rest of this deck explains how they work.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5984" y="182880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325984" y="1828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47392" y="2025396"/>
            <a:ext cx="219456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9" name="Shape 7"/>
          <p:cNvSpPr/>
          <p:nvPr/>
        </p:nvSpPr>
        <p:spPr>
          <a:xfrm>
            <a:off x="2685136" y="182880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685136" y="1828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6544" y="2025396"/>
            <a:ext cx="219456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2" name="Shape 10"/>
          <p:cNvSpPr/>
          <p:nvPr/>
        </p:nvSpPr>
        <p:spPr>
          <a:xfrm>
            <a:off x="5044288" y="182880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044288" y="1828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65696" y="2025396"/>
            <a:ext cx="219456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5" name="Shape 13"/>
          <p:cNvSpPr/>
          <p:nvPr/>
        </p:nvSpPr>
        <p:spPr>
          <a:xfrm>
            <a:off x="7403440" y="182880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7403440" y="1828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· Leads · Analytics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524848" y="2025396"/>
            <a:ext cx="219456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8" name="Shape 16"/>
          <p:cNvSpPr/>
          <p:nvPr/>
        </p:nvSpPr>
        <p:spPr>
          <a:xfrm>
            <a:off x="9762592" y="182880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9762592" y="1828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/ Logout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6568" y="260604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1" name="Image 0" descr="/home/claude/crm/shots/landing_logi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9720" y="2679192"/>
            <a:ext cx="3511296" cy="130759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99720" y="402336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267048" y="260604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4" name="Image 1" descr="/home/claude/crm/shots/landing_signup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40200" y="2679192"/>
            <a:ext cx="3511296" cy="130759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340200" y="402336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8107528" y="260604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7" name="Image 2" descr="/home/claude/crm/shots/dashboard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80680" y="2679192"/>
            <a:ext cx="3511296" cy="130759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180680" y="402336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26568" y="452628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30" name="Image 3" descr="/home/claude/crm/shots/customers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99720" y="4599432"/>
            <a:ext cx="3511296" cy="130759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99720" y="594360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267048" y="452628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33" name="Image 4" descr="/home/claude/crm/shots/analytics_main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40200" y="4599432"/>
            <a:ext cx="3511296" cy="130759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340200" y="594360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8107528" y="452628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36" name="Image 5" descr="/home/claude/crm/shots/settings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80680" y="4599432"/>
            <a:ext cx="3511296" cy="130759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180680" y="594360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CRM360 · Project Overview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05686" cy="310896"/>
          </a:xfrm>
          <a:prstGeom prst="roundRect">
            <a:avLst>
              <a:gd name="adj" fmla="val 50000"/>
            </a:avLst>
          </a:prstGeom>
          <a:solidFill>
            <a:srgbClr val="7C3AED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4904"/>
            <a:ext cx="16056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travels from the browser to the database and back.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56336" y="214884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29588" y="2331720"/>
            <a:ext cx="585216" cy="585216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8" name="Image 0" descr="/home/claude/crm/icons/monit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744" y="2483876"/>
            <a:ext cx="280904" cy="280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6336" y="30175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6336" y="328269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device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42920" y="2779776"/>
            <a:ext cx="274320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2" name="Shape 9"/>
          <p:cNvSpPr/>
          <p:nvPr/>
        </p:nvSpPr>
        <p:spPr>
          <a:xfrm>
            <a:off x="3572104" y="214884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45356" y="2331720"/>
            <a:ext cx="585216" cy="58521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4" name="Image 1" descr="/home/claude/crm/icons/layou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512" y="2483876"/>
            <a:ext cx="280904" cy="2809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72104" y="30175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72104" y="328269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UI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958688" y="2779776"/>
            <a:ext cx="274320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8" name="Shape 14"/>
          <p:cNvSpPr/>
          <p:nvPr/>
        </p:nvSpPr>
        <p:spPr>
          <a:xfrm>
            <a:off x="6287872" y="214884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61124" y="2331720"/>
            <a:ext cx="585216" cy="585216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0" name="Image 2" descr="/home/claude/crm/icons/serv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3280" y="2483876"/>
            <a:ext cx="280904" cy="28090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87872" y="30175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87872" y="328269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Express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8674456" y="2779776"/>
            <a:ext cx="274320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4" name="Shape 19"/>
          <p:cNvSpPr/>
          <p:nvPr/>
        </p:nvSpPr>
        <p:spPr>
          <a:xfrm>
            <a:off x="9003640" y="214884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876892" y="2331720"/>
            <a:ext cx="585216" cy="585216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26" name="Image 3" descr="/home/claude/crm/icons/databa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9048" y="2483876"/>
            <a:ext cx="280904" cy="2809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003640" y="30175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003640" y="328269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856336" y="3913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Components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856336" y="4251960"/>
            <a:ext cx="3310128" cy="1417320"/>
          </a:xfrm>
          <a:prstGeom prst="roundRect">
            <a:avLst>
              <a:gd name="adj" fmla="val 5806"/>
            </a:avLst>
          </a:prstGeom>
          <a:solidFill>
            <a:srgbClr val="0F1730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1020928" y="4434840"/>
            <a:ext cx="420624" cy="420624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2" name="Image 4" descr="/home/claude/crm/icons/lo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0290" y="4544202"/>
            <a:ext cx="201900" cy="2019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20928" y="493776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1020928" y="5212080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JWT on protected routes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4440784" y="4251960"/>
            <a:ext cx="3310128" cy="1417320"/>
          </a:xfrm>
          <a:prstGeom prst="roundRect">
            <a:avLst>
              <a:gd name="adj" fmla="val 5806"/>
            </a:avLst>
          </a:prstGeom>
          <a:solidFill>
            <a:srgbClr val="0F1730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4605376" y="4434840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7" name="Image 5" descr="/home/claude/crm/icons/gitbranch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738" y="4544202"/>
            <a:ext cx="201900" cy="2019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605376" y="493776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4605376" y="5212080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 /api/customers /api/leads ...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8025232" y="4251960"/>
            <a:ext cx="3310128" cy="1417320"/>
          </a:xfrm>
          <a:prstGeom prst="roundRect">
            <a:avLst>
              <a:gd name="adj" fmla="val 5806"/>
            </a:avLst>
          </a:prstGeom>
          <a:solidFill>
            <a:srgbClr val="0F1730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8189824" y="4434840"/>
            <a:ext cx="420624" cy="420624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42" name="Image 6" descr="/home/claude/crm/icons/upload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9186" y="4544202"/>
            <a:ext cx="201900" cy="20190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8189824" y="493776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 (Multer)</a:t>
            </a:r>
            <a:endParaRPr lang="en-US" sz="1150" dirty="0"/>
          </a:p>
        </p:txBody>
      </p:sp>
      <p:sp>
        <p:nvSpPr>
          <p:cNvPr id="44" name="Text 35"/>
          <p:cNvSpPr/>
          <p:nvPr/>
        </p:nvSpPr>
        <p:spPr>
          <a:xfrm>
            <a:off x="8189824" y="5212080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profile picture uploads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CRM360 · Project Overview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2563EB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490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— Built on the MERN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706624" cy="4206240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74520"/>
            <a:ext cx="2706624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74520"/>
            <a:ext cx="2706624" cy="777240"/>
          </a:xfrm>
          <a:prstGeom prst="roundRect">
            <a:avLst>
              <a:gd name="adj" fmla="val 10588"/>
            </a:avLst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240280"/>
            <a:ext cx="2706624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554480" y="1993392"/>
            <a:ext cx="512064" cy="512064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0" name="Image 0" descr="/home/claude/crm/icons/monit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617" y="2126529"/>
            <a:ext cx="245791" cy="24579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2770632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13232" y="3264408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877824" y="314553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713232" y="3739896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877824" y="3621024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713232" y="4215384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877824" y="409651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713232" y="4690872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877824" y="45720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713232" y="5166360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8"/>
          <p:cNvSpPr/>
          <p:nvPr/>
        </p:nvSpPr>
        <p:spPr>
          <a:xfrm>
            <a:off x="877824" y="504748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3300984" y="1874520"/>
            <a:ext cx="2706624" cy="4206240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300984" y="1874520"/>
            <a:ext cx="2706624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Shape 21"/>
          <p:cNvSpPr/>
          <p:nvPr/>
        </p:nvSpPr>
        <p:spPr>
          <a:xfrm>
            <a:off x="3300984" y="1874520"/>
            <a:ext cx="2706624" cy="777240"/>
          </a:xfrm>
          <a:prstGeom prst="roundRect">
            <a:avLst>
              <a:gd name="adj" fmla="val 10588"/>
            </a:avLst>
          </a:prstGeom>
          <a:solidFill>
            <a:srgbClr val="7C3AED"/>
          </a:solidFill>
          <a:ln/>
        </p:spPr>
      </p:sp>
      <p:sp>
        <p:nvSpPr>
          <p:cNvPr id="25" name="Shape 22"/>
          <p:cNvSpPr/>
          <p:nvPr/>
        </p:nvSpPr>
        <p:spPr>
          <a:xfrm>
            <a:off x="3300984" y="2240280"/>
            <a:ext cx="2706624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Shape 23"/>
          <p:cNvSpPr/>
          <p:nvPr/>
        </p:nvSpPr>
        <p:spPr>
          <a:xfrm>
            <a:off x="4398264" y="1993392"/>
            <a:ext cx="512064" cy="512064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27" name="Image 1" descr="/home/claude/crm/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1401" y="2126529"/>
            <a:ext cx="245791" cy="245791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300984" y="2770632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29" name="Shape 25"/>
          <p:cNvSpPr/>
          <p:nvPr/>
        </p:nvSpPr>
        <p:spPr>
          <a:xfrm>
            <a:off x="3557016" y="3264408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6"/>
          <p:cNvSpPr/>
          <p:nvPr/>
        </p:nvSpPr>
        <p:spPr>
          <a:xfrm>
            <a:off x="3721608" y="314553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80" dirty="0"/>
          </a:p>
        </p:txBody>
      </p:sp>
      <p:sp>
        <p:nvSpPr>
          <p:cNvPr id="31" name="Shape 27"/>
          <p:cNvSpPr/>
          <p:nvPr/>
        </p:nvSpPr>
        <p:spPr>
          <a:xfrm>
            <a:off x="3557016" y="3739896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28"/>
          <p:cNvSpPr/>
          <p:nvPr/>
        </p:nvSpPr>
        <p:spPr>
          <a:xfrm>
            <a:off x="3721608" y="3621024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</a:t>
            </a:r>
            <a:endParaRPr lang="en-US" sz="1080" dirty="0"/>
          </a:p>
        </p:txBody>
      </p:sp>
      <p:sp>
        <p:nvSpPr>
          <p:cNvPr id="33" name="Shape 29"/>
          <p:cNvSpPr/>
          <p:nvPr/>
        </p:nvSpPr>
        <p:spPr>
          <a:xfrm>
            <a:off x="3557016" y="4215384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4" name="Text 30"/>
          <p:cNvSpPr/>
          <p:nvPr/>
        </p:nvSpPr>
        <p:spPr>
          <a:xfrm>
            <a:off x="3721608" y="409651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(ODM)</a:t>
            </a:r>
            <a:endParaRPr lang="en-US" sz="1080" dirty="0"/>
          </a:p>
        </p:txBody>
      </p:sp>
      <p:sp>
        <p:nvSpPr>
          <p:cNvPr id="35" name="Shape 31"/>
          <p:cNvSpPr/>
          <p:nvPr/>
        </p:nvSpPr>
        <p:spPr>
          <a:xfrm>
            <a:off x="3557016" y="4690872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6" name="Text 32"/>
          <p:cNvSpPr/>
          <p:nvPr/>
        </p:nvSpPr>
        <p:spPr>
          <a:xfrm>
            <a:off x="3721608" y="45720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(uploads)</a:t>
            </a:r>
            <a:endParaRPr lang="en-US" sz="1080" dirty="0"/>
          </a:p>
        </p:txBody>
      </p:sp>
      <p:sp>
        <p:nvSpPr>
          <p:cNvPr id="37" name="Shape 33"/>
          <p:cNvSpPr/>
          <p:nvPr/>
        </p:nvSpPr>
        <p:spPr>
          <a:xfrm>
            <a:off x="3557016" y="516636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8" name="Text 34"/>
          <p:cNvSpPr/>
          <p:nvPr/>
        </p:nvSpPr>
        <p:spPr>
          <a:xfrm>
            <a:off x="3721608" y="504748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(hashing)</a:t>
            </a:r>
            <a:endParaRPr lang="en-US" sz="1080" dirty="0"/>
          </a:p>
        </p:txBody>
      </p:sp>
      <p:sp>
        <p:nvSpPr>
          <p:cNvPr id="39" name="Shape 35"/>
          <p:cNvSpPr/>
          <p:nvPr/>
        </p:nvSpPr>
        <p:spPr>
          <a:xfrm>
            <a:off x="6144768" y="1874520"/>
            <a:ext cx="2706624" cy="4206240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6144768" y="1874520"/>
            <a:ext cx="2706624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1" name="Shape 37"/>
          <p:cNvSpPr/>
          <p:nvPr/>
        </p:nvSpPr>
        <p:spPr>
          <a:xfrm>
            <a:off x="6144768" y="1874520"/>
            <a:ext cx="2706624" cy="777240"/>
          </a:xfrm>
          <a:prstGeom prst="roundRect">
            <a:avLst>
              <a:gd name="adj" fmla="val 10588"/>
            </a:avLst>
          </a:prstGeom>
          <a:solidFill>
            <a:srgbClr val="06B6D4"/>
          </a:solidFill>
          <a:ln/>
        </p:spPr>
      </p:sp>
      <p:sp>
        <p:nvSpPr>
          <p:cNvPr id="42" name="Shape 38"/>
          <p:cNvSpPr/>
          <p:nvPr/>
        </p:nvSpPr>
        <p:spPr>
          <a:xfrm>
            <a:off x="6144768" y="2240280"/>
            <a:ext cx="2706624" cy="4114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3" name="Shape 39"/>
          <p:cNvSpPr/>
          <p:nvPr/>
        </p:nvSpPr>
        <p:spPr>
          <a:xfrm>
            <a:off x="7242048" y="1993392"/>
            <a:ext cx="512064" cy="512064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44" name="Image 2" descr="/home/claude/crm/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5185" y="2126529"/>
            <a:ext cx="245791" cy="245791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6144768" y="2770632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50" dirty="0"/>
          </a:p>
        </p:txBody>
      </p:sp>
      <p:sp>
        <p:nvSpPr>
          <p:cNvPr id="46" name="Shape 41"/>
          <p:cNvSpPr/>
          <p:nvPr/>
        </p:nvSpPr>
        <p:spPr>
          <a:xfrm>
            <a:off x="6400800" y="3264408"/>
            <a:ext cx="73152" cy="7315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7" name="Text 42"/>
          <p:cNvSpPr/>
          <p:nvPr/>
        </p:nvSpPr>
        <p:spPr>
          <a:xfrm>
            <a:off x="6565392" y="314553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80" dirty="0"/>
          </a:p>
        </p:txBody>
      </p:sp>
      <p:sp>
        <p:nvSpPr>
          <p:cNvPr id="48" name="Shape 43"/>
          <p:cNvSpPr/>
          <p:nvPr/>
        </p:nvSpPr>
        <p:spPr>
          <a:xfrm>
            <a:off x="6400800" y="3739896"/>
            <a:ext cx="73152" cy="7315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9" name="Text 44"/>
          <p:cNvSpPr/>
          <p:nvPr/>
        </p:nvSpPr>
        <p:spPr>
          <a:xfrm>
            <a:off x="6565392" y="3621024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or Atlas</a:t>
            </a:r>
            <a:endParaRPr lang="en-US" sz="1080" dirty="0"/>
          </a:p>
        </p:txBody>
      </p:sp>
      <p:sp>
        <p:nvSpPr>
          <p:cNvPr id="50" name="Shape 45"/>
          <p:cNvSpPr/>
          <p:nvPr/>
        </p:nvSpPr>
        <p:spPr>
          <a:xfrm>
            <a:off x="6400800" y="4215384"/>
            <a:ext cx="73152" cy="7315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1" name="Text 46"/>
          <p:cNvSpPr/>
          <p:nvPr/>
        </p:nvSpPr>
        <p:spPr>
          <a:xfrm>
            <a:off x="6565392" y="409651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Auto-created collections</a:t>
            </a:r>
            <a:endParaRPr lang="en-US" sz="1080" dirty="0"/>
          </a:p>
        </p:txBody>
      </p:sp>
      <p:sp>
        <p:nvSpPr>
          <p:cNvPr id="52" name="Shape 47"/>
          <p:cNvSpPr/>
          <p:nvPr/>
        </p:nvSpPr>
        <p:spPr>
          <a:xfrm>
            <a:off x="8988552" y="1874520"/>
            <a:ext cx="2706624" cy="4206240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3" name="Shape 48"/>
          <p:cNvSpPr/>
          <p:nvPr/>
        </p:nvSpPr>
        <p:spPr>
          <a:xfrm>
            <a:off x="8988552" y="1874520"/>
            <a:ext cx="2706624" cy="7772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4" name="Shape 49"/>
          <p:cNvSpPr/>
          <p:nvPr/>
        </p:nvSpPr>
        <p:spPr>
          <a:xfrm>
            <a:off x="8988552" y="1874520"/>
            <a:ext cx="2706624" cy="777240"/>
          </a:xfrm>
          <a:prstGeom prst="roundRect">
            <a:avLst>
              <a:gd name="adj" fmla="val 10588"/>
            </a:avLst>
          </a:prstGeom>
          <a:solidFill>
            <a:srgbClr val="16A34A"/>
          </a:solidFill>
          <a:ln/>
        </p:spPr>
      </p:sp>
      <p:sp>
        <p:nvSpPr>
          <p:cNvPr id="55" name="Shape 50"/>
          <p:cNvSpPr/>
          <p:nvPr/>
        </p:nvSpPr>
        <p:spPr>
          <a:xfrm>
            <a:off x="8988552" y="2240280"/>
            <a:ext cx="2706624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6" name="Shape 51"/>
          <p:cNvSpPr/>
          <p:nvPr/>
        </p:nvSpPr>
        <p:spPr>
          <a:xfrm>
            <a:off x="10085832" y="1993392"/>
            <a:ext cx="512064" cy="512064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57" name="Image 3" descr="/home/claude/crm/icons/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8969" y="2126529"/>
            <a:ext cx="245791" cy="245791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8988552" y="2770632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Tools</a:t>
            </a:r>
            <a:endParaRPr lang="en-US" sz="1350" dirty="0"/>
          </a:p>
        </p:txBody>
      </p:sp>
      <p:sp>
        <p:nvSpPr>
          <p:cNvPr id="59" name="Shape 53"/>
          <p:cNvSpPr/>
          <p:nvPr/>
        </p:nvSpPr>
        <p:spPr>
          <a:xfrm>
            <a:off x="9244584" y="3264408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0" name="Text 54"/>
          <p:cNvSpPr/>
          <p:nvPr/>
        </p:nvSpPr>
        <p:spPr>
          <a:xfrm>
            <a:off x="9409176" y="314553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</a:t>
            </a:r>
            <a:endParaRPr lang="en-US" sz="1080" dirty="0"/>
          </a:p>
        </p:txBody>
      </p:sp>
      <p:sp>
        <p:nvSpPr>
          <p:cNvPr id="61" name="Shape 55"/>
          <p:cNvSpPr/>
          <p:nvPr/>
        </p:nvSpPr>
        <p:spPr>
          <a:xfrm>
            <a:off x="9244584" y="3739896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2" name="Text 56"/>
          <p:cNvSpPr/>
          <p:nvPr/>
        </p:nvSpPr>
        <p:spPr>
          <a:xfrm>
            <a:off x="9409176" y="3621024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080" dirty="0"/>
          </a:p>
        </p:txBody>
      </p:sp>
      <p:sp>
        <p:nvSpPr>
          <p:cNvPr id="63" name="Shape 57"/>
          <p:cNvSpPr/>
          <p:nvPr/>
        </p:nvSpPr>
        <p:spPr>
          <a:xfrm>
            <a:off x="9244584" y="4215384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4" name="Text 58"/>
          <p:cNvSpPr/>
          <p:nvPr/>
        </p:nvSpPr>
        <p:spPr>
          <a:xfrm>
            <a:off x="9409176" y="409651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080" dirty="0"/>
          </a:p>
        </p:txBody>
      </p:sp>
      <p:sp>
        <p:nvSpPr>
          <p:cNvPr id="65" name="Shape 59"/>
          <p:cNvSpPr/>
          <p:nvPr/>
        </p:nvSpPr>
        <p:spPr>
          <a:xfrm>
            <a:off x="9244584" y="4690872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6" name="Text 60"/>
          <p:cNvSpPr/>
          <p:nvPr/>
        </p:nvSpPr>
        <p:spPr>
          <a:xfrm>
            <a:off x="9409176" y="45720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· npm</a:t>
            </a:r>
            <a:endParaRPr lang="en-US" sz="1080" dirty="0"/>
          </a:p>
        </p:txBody>
      </p:sp>
      <p:sp>
        <p:nvSpPr>
          <p:cNvPr id="67" name="Text 6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CRM360 · Project Overview</a:t>
            </a:r>
            <a:endParaRPr lang="en-US" sz="900" dirty="0"/>
          </a:p>
        </p:txBody>
      </p:sp>
      <p:sp>
        <p:nvSpPr>
          <p:cNvPr id="68" name="Text 62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74090" cy="310896"/>
          </a:xfrm>
          <a:prstGeom prst="roundRect">
            <a:avLst>
              <a:gd name="adj" fmla="val 50000"/>
            </a:avLst>
          </a:prstGeom>
          <a:solidFill>
            <a:srgbClr val="2563EB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4904"/>
            <a:ext cx="11740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React + Vite client is organized and talks to the backend.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3728" y="1920240"/>
            <a:ext cx="1691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90092" y="2039112"/>
            <a:ext cx="438912" cy="43891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" name="Image 0" descr="/home/claude/crm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09" y="2153229"/>
            <a:ext cx="210678" cy="21067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3728" y="2542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273656" y="2345436"/>
            <a:ext cx="146304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1" name="Shape 8"/>
          <p:cNvSpPr/>
          <p:nvPr/>
        </p:nvSpPr>
        <p:spPr>
          <a:xfrm>
            <a:off x="2438248" y="1920240"/>
            <a:ext cx="1691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64612" y="2039112"/>
            <a:ext cx="438912" cy="43891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1" descr="/home/claude/crm/icons/layou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8729" y="2153229"/>
            <a:ext cx="210678" cy="21067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38248" y="2542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Pages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148176" y="2345436"/>
            <a:ext cx="146304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6" name="Shape 12"/>
          <p:cNvSpPr/>
          <p:nvPr/>
        </p:nvSpPr>
        <p:spPr>
          <a:xfrm>
            <a:off x="4312768" y="1920240"/>
            <a:ext cx="1691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939132" y="2039112"/>
            <a:ext cx="438912" cy="43891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8" name="Image 2" descr="/home/claude/crm/icons/packa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3249" y="2153229"/>
            <a:ext cx="210678" cy="21067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12768" y="2542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022696" y="2345436"/>
            <a:ext cx="146304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1" name="Shape 16"/>
          <p:cNvSpPr/>
          <p:nvPr/>
        </p:nvSpPr>
        <p:spPr>
          <a:xfrm>
            <a:off x="6187288" y="1920240"/>
            <a:ext cx="1691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813652" y="2039112"/>
            <a:ext cx="438912" cy="43891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3" name="Image 3" descr="/home/claude/crm/icons/cpu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7769" y="2153229"/>
            <a:ext cx="210678" cy="21067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187288" y="2542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7897216" y="2345436"/>
            <a:ext cx="146304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6" name="Shape 20"/>
          <p:cNvSpPr/>
          <p:nvPr/>
        </p:nvSpPr>
        <p:spPr>
          <a:xfrm>
            <a:off x="8061808" y="1920240"/>
            <a:ext cx="1691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688172" y="2039112"/>
            <a:ext cx="438912" cy="43891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8" name="Image 4" descr="/home/claude/crm/icons/gitbranc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2289" y="2153229"/>
            <a:ext cx="210678" cy="21067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061808" y="2542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9771736" y="2345436"/>
            <a:ext cx="146304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31" name="Shape 24"/>
          <p:cNvSpPr/>
          <p:nvPr/>
        </p:nvSpPr>
        <p:spPr>
          <a:xfrm>
            <a:off x="9936328" y="1920240"/>
            <a:ext cx="1691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10562692" y="2039112"/>
            <a:ext cx="438912" cy="43891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3" name="Image 5" descr="/home/claude/crm/icons/serve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76809" y="2153229"/>
            <a:ext cx="210678" cy="21067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936328" y="2542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457200" y="3246120"/>
            <a:ext cx="53949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6" name="Text 28"/>
          <p:cNvSpPr/>
          <p:nvPr/>
        </p:nvSpPr>
        <p:spPr>
          <a:xfrm>
            <a:off x="731520" y="3429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Behaviour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777240" y="3858768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8" name="Text 30"/>
          <p:cNvSpPr/>
          <p:nvPr/>
        </p:nvSpPr>
        <p:spPr>
          <a:xfrm>
            <a:off x="960120" y="376732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map 1:1 to CRM modules — Dashboard, Customers, Leads, Analytics, Settings</a:t>
            </a:r>
            <a:endParaRPr lang="en-US" sz="1080" dirty="0"/>
          </a:p>
        </p:txBody>
      </p:sp>
      <p:sp>
        <p:nvSpPr>
          <p:cNvPr id="39" name="Shape 31"/>
          <p:cNvSpPr/>
          <p:nvPr/>
        </p:nvSpPr>
        <p:spPr>
          <a:xfrm>
            <a:off x="777240" y="4361688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0" name="Text 32"/>
          <p:cNvSpPr/>
          <p:nvPr/>
        </p:nvSpPr>
        <p:spPr>
          <a:xfrm>
            <a:off x="960120" y="427024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components (forms, cards, tables) live under src/components/</a:t>
            </a:r>
            <a:endParaRPr lang="en-US" sz="1080" dirty="0"/>
          </a:p>
        </p:txBody>
      </p:sp>
      <p:sp>
        <p:nvSpPr>
          <p:cNvPr id="41" name="Shape 33"/>
          <p:cNvSpPr/>
          <p:nvPr/>
        </p:nvSpPr>
        <p:spPr>
          <a:xfrm>
            <a:off x="777240" y="4864608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2" name="Text 34"/>
          <p:cNvSpPr/>
          <p:nvPr/>
        </p:nvSpPr>
        <p:spPr>
          <a:xfrm>
            <a:off x="960120" y="477316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 via React Router; services/ wraps API calls</a:t>
            </a:r>
            <a:endParaRPr lang="en-US" sz="1080" dirty="0"/>
          </a:p>
        </p:txBody>
      </p:sp>
      <p:sp>
        <p:nvSpPr>
          <p:cNvPr id="43" name="Shape 35"/>
          <p:cNvSpPr/>
          <p:nvPr/>
        </p:nvSpPr>
        <p:spPr>
          <a:xfrm>
            <a:off x="777240" y="5367528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4" name="Text 36"/>
          <p:cNvSpPr/>
          <p:nvPr/>
        </p:nvSpPr>
        <p:spPr>
          <a:xfrm>
            <a:off x="960120" y="527608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include validation before a request ever leaves the browser</a:t>
            </a:r>
            <a:endParaRPr lang="en-US" sz="1080" dirty="0"/>
          </a:p>
        </p:txBody>
      </p:sp>
      <p:sp>
        <p:nvSpPr>
          <p:cNvPr id="45" name="Shape 37"/>
          <p:cNvSpPr/>
          <p:nvPr/>
        </p:nvSpPr>
        <p:spPr>
          <a:xfrm>
            <a:off x="777240" y="5870448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6" name="Text 38"/>
          <p:cNvSpPr/>
          <p:nvPr/>
        </p:nvSpPr>
        <p:spPr>
          <a:xfrm>
            <a:off x="960120" y="577900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handles responsive design across screen sizes</a:t>
            </a:r>
            <a:endParaRPr lang="en-US" sz="1080" dirty="0"/>
          </a:p>
        </p:txBody>
      </p:sp>
      <p:sp>
        <p:nvSpPr>
          <p:cNvPr id="47" name="Shape 39"/>
          <p:cNvSpPr/>
          <p:nvPr/>
        </p:nvSpPr>
        <p:spPr>
          <a:xfrm>
            <a:off x="5989320" y="3246120"/>
            <a:ext cx="5742432" cy="2880360"/>
          </a:xfrm>
          <a:prstGeom prst="roundRect">
            <a:avLst>
              <a:gd name="adj" fmla="val 2857"/>
            </a:avLst>
          </a:prstGeom>
          <a:solidFill>
            <a:srgbClr val="0F1730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8" name="Text 40"/>
          <p:cNvSpPr/>
          <p:nvPr/>
        </p:nvSpPr>
        <p:spPr>
          <a:xfrm>
            <a:off x="6263640" y="34015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UI — Dashboard</a:t>
            </a:r>
            <a:endParaRPr lang="en-US" sz="1150" dirty="0"/>
          </a:p>
        </p:txBody>
      </p:sp>
      <p:pic>
        <p:nvPicPr>
          <p:cNvPr id="49" name="Image 6" descr="/home/claude/crm/shots/dashboard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263640" y="3730752"/>
            <a:ext cx="5193792" cy="228600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CRM360 · Project Overview</a:t>
            </a:r>
            <a:endParaRPr lang="en-US" sz="900" dirty="0"/>
          </a:p>
        </p:txBody>
      </p:sp>
      <p:sp>
        <p:nvSpPr>
          <p:cNvPr id="51" name="Text 42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1989" cy="310896"/>
          </a:xfrm>
          <a:prstGeom prst="roundRect">
            <a:avLst>
              <a:gd name="adj" fmla="val 50000"/>
            </a:avLst>
          </a:prstGeom>
          <a:solidFill>
            <a:srgbClr val="2563EB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4904"/>
            <a:ext cx="12819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Registration 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fills in, mapped to what happens behind the scenes.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7512" y="1581912"/>
            <a:ext cx="3465576" cy="4453128"/>
          </a:xfrm>
          <a:prstGeom prst="roundRect">
            <a:avLst>
              <a:gd name="adj" fmla="val 26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7" name="Image 0" descr="/home/claude/crm/shots/crop_signup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691640"/>
            <a:ext cx="3246120" cy="42336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3081482"/>
            <a:ext cx="310896" cy="310896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1E2761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" y="30723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" y="3674196"/>
            <a:ext cx="310896" cy="310896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1E2761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" y="36650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6072" y="4266910"/>
            <a:ext cx="310896" cy="310896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1E2761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6072" y="42577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6072" y="4859625"/>
            <a:ext cx="310896" cy="310896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1E2761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6072" y="485048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76072" y="5452339"/>
            <a:ext cx="310896" cy="310896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1E2761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6072" y="54431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434840" y="1627632"/>
            <a:ext cx="7296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form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434840" y="1901952"/>
            <a:ext cx="246888" cy="2468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4434840" y="189280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82312" y="1883664"/>
            <a:ext cx="6876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434840" y="2208276"/>
            <a:ext cx="246888" cy="2468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0"/>
          <p:cNvSpPr/>
          <p:nvPr/>
        </p:nvSpPr>
        <p:spPr>
          <a:xfrm>
            <a:off x="4434840" y="21991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782312" y="2189988"/>
            <a:ext cx="6876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434840" y="2514600"/>
            <a:ext cx="246888" cy="2468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3"/>
          <p:cNvSpPr/>
          <p:nvPr/>
        </p:nvSpPr>
        <p:spPr>
          <a:xfrm>
            <a:off x="4434840" y="25054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782312" y="2496312"/>
            <a:ext cx="6876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434840" y="2820924"/>
            <a:ext cx="246888" cy="2468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6"/>
          <p:cNvSpPr/>
          <p:nvPr/>
        </p:nvSpPr>
        <p:spPr>
          <a:xfrm>
            <a:off x="4434840" y="281178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782312" y="2802636"/>
            <a:ext cx="6876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Password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434840" y="3127248"/>
            <a:ext cx="246888" cy="2468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29"/>
          <p:cNvSpPr/>
          <p:nvPr/>
        </p:nvSpPr>
        <p:spPr>
          <a:xfrm>
            <a:off x="4434840" y="311810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782312" y="3108960"/>
            <a:ext cx="6876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 →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58284" y="345186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5" name="Text 32"/>
          <p:cNvSpPr/>
          <p:nvPr/>
        </p:nvSpPr>
        <p:spPr>
          <a:xfrm>
            <a:off x="4434840" y="3744468"/>
            <a:ext cx="7296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after Create Account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4434840" y="4037076"/>
            <a:ext cx="7296912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581144" y="4128516"/>
            <a:ext cx="246888" cy="2468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8" name="Image 1" descr="/home/claude/crm/icons/checkcirc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335" y="4192707"/>
            <a:ext cx="118506" cy="118506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4956048" y="4037076"/>
            <a:ext cx="6665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validates the fields before submitting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4434840" y="4535424"/>
            <a:ext cx="7296912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4581144" y="4626864"/>
            <a:ext cx="246888" cy="24688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42" name="Image 2" descr="/home/claude/crm/icons/sen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335" y="4691055"/>
            <a:ext cx="118506" cy="118506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4956048" y="4535424"/>
            <a:ext cx="6665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sent to backend — POST /api/auth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4434840" y="5033772"/>
            <a:ext cx="7296912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4581144" y="5125212"/>
            <a:ext cx="246888" cy="24688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46" name="Image 3" descr="/home/claude/crm/icons/serv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335" y="5189403"/>
            <a:ext cx="118506" cy="118506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4956048" y="5033772"/>
            <a:ext cx="6665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checks MongoDB for an existing user</a:t>
            </a:r>
            <a:endParaRPr lang="en-US" sz="1050" dirty="0"/>
          </a:p>
        </p:txBody>
      </p:sp>
      <p:sp>
        <p:nvSpPr>
          <p:cNvPr id="48" name="Shape 42"/>
          <p:cNvSpPr/>
          <p:nvPr/>
        </p:nvSpPr>
        <p:spPr>
          <a:xfrm>
            <a:off x="4434840" y="5532120"/>
            <a:ext cx="7296912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9" name="Shape 43"/>
          <p:cNvSpPr/>
          <p:nvPr/>
        </p:nvSpPr>
        <p:spPr>
          <a:xfrm>
            <a:off x="4581144" y="5623560"/>
            <a:ext cx="246888" cy="24688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50" name="Image 4" descr="/home/claude/crm/icons/lo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335" y="5687751"/>
            <a:ext cx="118506" cy="118506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4956048" y="5532120"/>
            <a:ext cx="6665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hashed with bcrypt before it is stored</a:t>
            </a:r>
            <a:endParaRPr lang="en-US" sz="1050" dirty="0"/>
          </a:p>
        </p:txBody>
      </p:sp>
      <p:sp>
        <p:nvSpPr>
          <p:cNvPr id="52" name="Shape 45"/>
          <p:cNvSpPr/>
          <p:nvPr/>
        </p:nvSpPr>
        <p:spPr>
          <a:xfrm>
            <a:off x="4434840" y="6030468"/>
            <a:ext cx="7296912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3" name="Shape 46"/>
          <p:cNvSpPr/>
          <p:nvPr/>
        </p:nvSpPr>
        <p:spPr>
          <a:xfrm>
            <a:off x="4581144" y="6121908"/>
            <a:ext cx="246888" cy="246888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54" name="Image 5" descr="/home/claude/crm/icons/checkcirc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335" y="6186099"/>
            <a:ext cx="118506" cy="118506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4956048" y="6030468"/>
            <a:ext cx="6665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saved — redirected to Login / Dashboard</a:t>
            </a:r>
            <a:endParaRPr lang="en-US" sz="1050" dirty="0"/>
          </a:p>
        </p:txBody>
      </p:sp>
      <p:sp>
        <p:nvSpPr>
          <p:cNvPr id="56" name="Text 4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CRM360 · Project Overview</a:t>
            </a:r>
            <a:endParaRPr lang="en-US" sz="900" dirty="0"/>
          </a:p>
        </p:txBody>
      </p:sp>
      <p:sp>
        <p:nvSpPr>
          <p:cNvPr id="57" name="Text 4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1989" cy="310896"/>
          </a:xfrm>
          <a:prstGeom prst="roundRect">
            <a:avLst>
              <a:gd name="adj" fmla="val 50000"/>
            </a:avLst>
          </a:prstGeom>
          <a:solidFill>
            <a:srgbClr val="7C3AED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4904"/>
            <a:ext cx="12819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Process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Login screen, mapped to what happens behind the scenes.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7512" y="1581912"/>
            <a:ext cx="3465576" cy="3968496"/>
          </a:xfrm>
          <a:prstGeom prst="roundRect">
            <a:avLst>
              <a:gd name="adj" fmla="val 26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7" name="Image 0" descr="/home/claude/crm/shots/crop_logi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691640"/>
            <a:ext cx="324612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3197017"/>
            <a:ext cx="310896" cy="310896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1E2761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" y="31878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" y="3856848"/>
            <a:ext cx="310896" cy="310896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1E2761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" y="3847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6072" y="4366717"/>
            <a:ext cx="310896" cy="310896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1E2761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6072" y="43575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6072" y="4846594"/>
            <a:ext cx="310896" cy="310896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1E2761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6072" y="48374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434840" y="1627632"/>
            <a:ext cx="7296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form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434840" y="1901952"/>
            <a:ext cx="246888" cy="24688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5"/>
          <p:cNvSpPr/>
          <p:nvPr/>
        </p:nvSpPr>
        <p:spPr>
          <a:xfrm>
            <a:off x="4434840" y="189280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82312" y="1883664"/>
            <a:ext cx="6876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434840" y="2208276"/>
            <a:ext cx="246888" cy="24688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8"/>
          <p:cNvSpPr/>
          <p:nvPr/>
        </p:nvSpPr>
        <p:spPr>
          <a:xfrm>
            <a:off x="4434840" y="21991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782312" y="2189988"/>
            <a:ext cx="6876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434840" y="2514600"/>
            <a:ext cx="246888" cy="24688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1"/>
          <p:cNvSpPr/>
          <p:nvPr/>
        </p:nvSpPr>
        <p:spPr>
          <a:xfrm>
            <a:off x="4434840" y="25054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782312" y="2496312"/>
            <a:ext cx="6876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434840" y="2820924"/>
            <a:ext cx="246888" cy="24688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4"/>
          <p:cNvSpPr/>
          <p:nvPr/>
        </p:nvSpPr>
        <p:spPr>
          <a:xfrm>
            <a:off x="4434840" y="281178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782312" y="2802636"/>
            <a:ext cx="6876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user? Register here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782312" y="3099816"/>
            <a:ext cx="6876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is a link, not a submit — it takes a new user to the Create Account form on the previous slide.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558284" y="3456432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1" name="Text 28"/>
          <p:cNvSpPr/>
          <p:nvPr/>
        </p:nvSpPr>
        <p:spPr>
          <a:xfrm>
            <a:off x="4434840" y="3749040"/>
            <a:ext cx="7296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after Login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4434840" y="4041648"/>
            <a:ext cx="7296912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581144" y="4133088"/>
            <a:ext cx="246888" cy="2468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4" name="Image 1" descr="/home/claude/crm/icons/checkcirc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335" y="4197279"/>
            <a:ext cx="118506" cy="118506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4956048" y="4041648"/>
            <a:ext cx="6665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validation runs on the form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4434840" y="4539996"/>
            <a:ext cx="7296912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4581144" y="4631436"/>
            <a:ext cx="246888" cy="24688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8" name="Image 2" descr="/home/claude/crm/icons/sen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335" y="4695627"/>
            <a:ext cx="118506" cy="11850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4956048" y="4539996"/>
            <a:ext cx="6665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login request sent to the backend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4434840" y="5038344"/>
            <a:ext cx="7296912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4581144" y="5129784"/>
            <a:ext cx="246888" cy="246888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42" name="Image 3" descr="/home/claude/crm/icons/databa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335" y="5193975"/>
            <a:ext cx="118506" cy="118506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4956048" y="5038344"/>
            <a:ext cx="6665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is checked &amp; password verified (bcrypt)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4434840" y="5564124"/>
            <a:ext cx="351129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4581144" y="5655564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46" name="Image 4" descr="/home/claude/crm/icons/checkcirc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467" y="5726887"/>
            <a:ext cx="131674" cy="131674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4983480" y="5564124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JWT issued, redirect to Dashboard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8220456" y="5564124"/>
            <a:ext cx="351129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9" name="Shape 42"/>
          <p:cNvSpPr/>
          <p:nvPr/>
        </p:nvSpPr>
        <p:spPr>
          <a:xfrm>
            <a:off x="8366760" y="5655564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50" name="Image 5" descr="/home/claude/crm/icons/xcirc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8083" y="5726887"/>
            <a:ext cx="131674" cy="131674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8769096" y="5564124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“Invalid credentials” error</a:t>
            </a:r>
            <a:endParaRPr lang="en-US" sz="1000" dirty="0"/>
          </a:p>
        </p:txBody>
      </p:sp>
      <p:sp>
        <p:nvSpPr>
          <p:cNvPr id="52" name="Text 4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CRM360 · Project Overview</a:t>
            </a:r>
            <a:endParaRPr lang="en-US" sz="900" dirty="0"/>
          </a:p>
        </p:txBody>
      </p:sp>
      <p:sp>
        <p:nvSpPr>
          <p:cNvPr id="53" name="Text 4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74090" cy="310896"/>
          </a:xfrm>
          <a:prstGeom prst="roundRect">
            <a:avLst>
              <a:gd name="adj" fmla="val 50000"/>
            </a:avLst>
          </a:prstGeom>
          <a:solidFill>
            <a:srgbClr val="06B6D4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4904"/>
            <a:ext cx="11740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5740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/home/claude/crm/icons/k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218815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103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26974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is the user?” — the login form checks email &amp; password against the database before any session is created.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45352" y="1828800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19672" y="20574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2" name="Image 1" descr="/home/claude/crm/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431" y="218815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59752" y="2103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19672" y="26974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can the user access?” — once verified, role-based permissions decide which pages and actions are available.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3416" y="4160520"/>
            <a:ext cx="2121408" cy="548640"/>
          </a:xfrm>
          <a:prstGeom prst="roundRect">
            <a:avLst>
              <a:gd name="adj" fmla="val 16667"/>
            </a:avLst>
          </a:prstGeom>
          <a:solidFill>
            <a:srgbClr val="0F1730"/>
          </a:solidFill>
          <a:ln/>
        </p:spPr>
      </p:sp>
      <p:sp>
        <p:nvSpPr>
          <p:cNvPr id="16" name="Text 12"/>
          <p:cNvSpPr/>
          <p:nvPr/>
        </p:nvSpPr>
        <p:spPr>
          <a:xfrm>
            <a:off x="353416" y="416052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493112" y="4379976"/>
            <a:ext cx="182880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8" name="Shape 14"/>
          <p:cNvSpPr/>
          <p:nvPr/>
        </p:nvSpPr>
        <p:spPr>
          <a:xfrm>
            <a:off x="2694280" y="4160520"/>
            <a:ext cx="2121408" cy="548640"/>
          </a:xfrm>
          <a:prstGeom prst="roundRect">
            <a:avLst>
              <a:gd name="adj" fmla="val 16667"/>
            </a:avLst>
          </a:prstGeom>
          <a:solidFill>
            <a:srgbClr val="0F1730"/>
          </a:solidFill>
          <a:ln/>
        </p:spPr>
      </p:sp>
      <p:sp>
        <p:nvSpPr>
          <p:cNvPr id="19" name="Text 15"/>
          <p:cNvSpPr/>
          <p:nvPr/>
        </p:nvSpPr>
        <p:spPr>
          <a:xfrm>
            <a:off x="2694280" y="416052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Credentials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833976" y="4379976"/>
            <a:ext cx="182880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1" name="Shape 17"/>
          <p:cNvSpPr/>
          <p:nvPr/>
        </p:nvSpPr>
        <p:spPr>
          <a:xfrm>
            <a:off x="5035144" y="4160520"/>
            <a:ext cx="2121408" cy="548640"/>
          </a:xfrm>
          <a:prstGeom prst="roundRect">
            <a:avLst>
              <a:gd name="adj" fmla="val 16667"/>
            </a:avLst>
          </a:prstGeom>
          <a:solidFill>
            <a:srgbClr val="0F1730"/>
          </a:solidFill>
          <a:ln/>
        </p:spPr>
      </p:sp>
      <p:sp>
        <p:nvSpPr>
          <p:cNvPr id="22" name="Text 18"/>
          <p:cNvSpPr/>
          <p:nvPr/>
        </p:nvSpPr>
        <p:spPr>
          <a:xfrm>
            <a:off x="5035144" y="416052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JWT Token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174840" y="4379976"/>
            <a:ext cx="182880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4" name="Shape 20"/>
          <p:cNvSpPr/>
          <p:nvPr/>
        </p:nvSpPr>
        <p:spPr>
          <a:xfrm>
            <a:off x="7376008" y="4160520"/>
            <a:ext cx="2121408" cy="548640"/>
          </a:xfrm>
          <a:prstGeom prst="roundRect">
            <a:avLst>
              <a:gd name="adj" fmla="val 16667"/>
            </a:avLst>
          </a:prstGeom>
          <a:solidFill>
            <a:srgbClr val="0F1730"/>
          </a:solidFill>
          <a:ln/>
        </p:spPr>
      </p:sp>
      <p:sp>
        <p:nvSpPr>
          <p:cNvPr id="25" name="Text 21"/>
          <p:cNvSpPr/>
          <p:nvPr/>
        </p:nvSpPr>
        <p:spPr>
          <a:xfrm>
            <a:off x="7376008" y="416052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/ Send Token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9515704" y="4379976"/>
            <a:ext cx="182880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7" name="Shape 23"/>
          <p:cNvSpPr/>
          <p:nvPr/>
        </p:nvSpPr>
        <p:spPr>
          <a:xfrm>
            <a:off x="9716872" y="4160520"/>
            <a:ext cx="2121408" cy="548640"/>
          </a:xfrm>
          <a:prstGeom prst="roundRect">
            <a:avLst>
              <a:gd name="adj" fmla="val 16667"/>
            </a:avLst>
          </a:prstGeom>
          <a:solidFill>
            <a:srgbClr val="0F1730"/>
          </a:solidFill>
          <a:ln/>
        </p:spPr>
      </p:sp>
      <p:sp>
        <p:nvSpPr>
          <p:cNvPr id="28" name="Text 24"/>
          <p:cNvSpPr/>
          <p:nvPr/>
        </p:nvSpPr>
        <p:spPr>
          <a:xfrm>
            <a:off x="9716872" y="416052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Protected Pages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57200" y="512064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0" name="Image 2" descr="/home/claude/crm/icons/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5239512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051560" y="51389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 require a valid token — unauthenticated requests are rejected with 401 before reaching a controller.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CRM360 · Project Overview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66190" cy="310896"/>
          </a:xfrm>
          <a:prstGeom prst="roundRect">
            <a:avLst>
              <a:gd name="adj" fmla="val 50000"/>
            </a:avLst>
          </a:prstGeom>
          <a:solidFill>
            <a:srgbClr val="7C3AED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4904"/>
            <a:ext cx="10661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Node request pipeline, from route to response.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4876" y="1920240"/>
            <a:ext cx="14630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35228" y="2029968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8" name="Image 0" descr="/home/claude/crm/icons/layou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835" y="2134575"/>
            <a:ext cx="193121" cy="1931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9156" y="2496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058772" y="2322576"/>
            <a:ext cx="141732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1" name="Shape 8"/>
          <p:cNvSpPr/>
          <p:nvPr/>
        </p:nvSpPr>
        <p:spPr>
          <a:xfrm>
            <a:off x="2191360" y="1920240"/>
            <a:ext cx="14630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21712" y="2029968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3" name="Image 1" descr="/home/claude/crm/icons/sen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319" y="2134575"/>
            <a:ext cx="193121" cy="1931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45640" y="2496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645256" y="2322576"/>
            <a:ext cx="141732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6" name="Shape 12"/>
          <p:cNvSpPr/>
          <p:nvPr/>
        </p:nvSpPr>
        <p:spPr>
          <a:xfrm>
            <a:off x="3777844" y="1920240"/>
            <a:ext cx="14630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308196" y="2029968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8" name="Image 2" descr="/home/claude/crm/icons/gitbran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2803" y="2134575"/>
            <a:ext cx="193121" cy="1931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732124" y="2496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231740" y="2322576"/>
            <a:ext cx="141732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1" name="Shape 16"/>
          <p:cNvSpPr/>
          <p:nvPr/>
        </p:nvSpPr>
        <p:spPr>
          <a:xfrm>
            <a:off x="5364328" y="1920240"/>
            <a:ext cx="14630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894680" y="2029968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3" name="Image 3" descr="/home/claude/crm/icons/serv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9287" y="2134575"/>
            <a:ext cx="193121" cy="19312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18608" y="2496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6818224" y="2322576"/>
            <a:ext cx="141732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6" name="Shape 20"/>
          <p:cNvSpPr/>
          <p:nvPr/>
        </p:nvSpPr>
        <p:spPr>
          <a:xfrm>
            <a:off x="6950812" y="1920240"/>
            <a:ext cx="14630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481164" y="2029968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8" name="Image 4" descr="/home/claude/crm/icons/cpu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5771" y="2134575"/>
            <a:ext cx="193121" cy="19312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905092" y="2496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8404708" y="2322576"/>
            <a:ext cx="141732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31" name="Shape 24"/>
          <p:cNvSpPr/>
          <p:nvPr/>
        </p:nvSpPr>
        <p:spPr>
          <a:xfrm>
            <a:off x="8537296" y="1920240"/>
            <a:ext cx="14630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9067648" y="2029968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3" name="Image 5" descr="/home/claude/crm/icons/databas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2255" y="2134575"/>
            <a:ext cx="193121" cy="193121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491576" y="2496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9991192" y="2322576"/>
            <a:ext cx="141732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36" name="Shape 28"/>
          <p:cNvSpPr/>
          <p:nvPr/>
        </p:nvSpPr>
        <p:spPr>
          <a:xfrm>
            <a:off x="10123780" y="1920240"/>
            <a:ext cx="14630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10654132" y="2029968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8" name="Image 6" descr="/home/claude/crm/icons/sen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8739" y="2134575"/>
            <a:ext cx="193121" cy="193121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078060" y="2496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457200" y="3200400"/>
            <a:ext cx="539496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1" name="Text 32"/>
          <p:cNvSpPr/>
          <p:nvPr/>
        </p:nvSpPr>
        <p:spPr>
          <a:xfrm>
            <a:off x="731520" y="3383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Responsibilities</a:t>
            </a:r>
            <a:endParaRPr lang="en-US" sz="1300" dirty="0"/>
          </a:p>
        </p:txBody>
      </p:sp>
      <p:sp>
        <p:nvSpPr>
          <p:cNvPr id="42" name="Shape 33"/>
          <p:cNvSpPr/>
          <p:nvPr/>
        </p:nvSpPr>
        <p:spPr>
          <a:xfrm>
            <a:off x="777240" y="3858768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3" name="Text 34"/>
          <p:cNvSpPr/>
          <p:nvPr/>
        </p:nvSpPr>
        <p:spPr>
          <a:xfrm>
            <a:off x="960120" y="376732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routes/ — maps each API path to a controller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777240" y="4334256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5" name="Text 36"/>
          <p:cNvSpPr/>
          <p:nvPr/>
        </p:nvSpPr>
        <p:spPr>
          <a:xfrm>
            <a:off x="960120" y="4242816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controllers/ — handles the request &amp; response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777240" y="4809744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7" name="Text 38"/>
          <p:cNvSpPr/>
          <p:nvPr/>
        </p:nvSpPr>
        <p:spPr>
          <a:xfrm>
            <a:off x="960120" y="4718304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middleware/ — verifies JWT before protected routes run</a:t>
            </a:r>
            <a:endParaRPr lang="en-US" sz="1100" dirty="0"/>
          </a:p>
        </p:txBody>
      </p:sp>
      <p:sp>
        <p:nvSpPr>
          <p:cNvPr id="48" name="Shape 39"/>
          <p:cNvSpPr/>
          <p:nvPr/>
        </p:nvSpPr>
        <p:spPr>
          <a:xfrm>
            <a:off x="777240" y="5285232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9" name="Text 40"/>
          <p:cNvSpPr/>
          <p:nvPr/>
        </p:nvSpPr>
        <p:spPr>
          <a:xfrm>
            <a:off x="960120" y="5193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 — Mongoose schemas define the data shape</a:t>
            </a:r>
            <a:endParaRPr lang="en-US" sz="1100" dirty="0"/>
          </a:p>
        </p:txBody>
      </p:sp>
      <p:sp>
        <p:nvSpPr>
          <p:cNvPr id="50" name="Shape 41"/>
          <p:cNvSpPr/>
          <p:nvPr/>
        </p:nvSpPr>
        <p:spPr>
          <a:xfrm>
            <a:off x="777240" y="576072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1" name="Text 42"/>
          <p:cNvSpPr/>
          <p:nvPr/>
        </p:nvSpPr>
        <p:spPr>
          <a:xfrm>
            <a:off x="960120" y="566928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 — database connection &amp; app setup</a:t>
            </a:r>
            <a:endParaRPr lang="en-US" sz="1100" dirty="0"/>
          </a:p>
        </p:txBody>
      </p:sp>
      <p:sp>
        <p:nvSpPr>
          <p:cNvPr id="52" name="Shape 43"/>
          <p:cNvSpPr/>
          <p:nvPr/>
        </p:nvSpPr>
        <p:spPr>
          <a:xfrm>
            <a:off x="5989320" y="3200400"/>
            <a:ext cx="5742432" cy="2926080"/>
          </a:xfrm>
          <a:prstGeom prst="roundRect">
            <a:avLst>
              <a:gd name="adj" fmla="val 2813"/>
            </a:avLst>
          </a:prstGeom>
          <a:solidFill>
            <a:srgbClr val="0F1730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3" name="Text 44"/>
          <p:cNvSpPr/>
          <p:nvPr/>
        </p:nvSpPr>
        <p:spPr>
          <a:xfrm>
            <a:off x="6263640" y="33649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250" dirty="0"/>
          </a:p>
        </p:txBody>
      </p:sp>
      <p:sp>
        <p:nvSpPr>
          <p:cNvPr id="54" name="Shape 45"/>
          <p:cNvSpPr/>
          <p:nvPr/>
        </p:nvSpPr>
        <p:spPr>
          <a:xfrm>
            <a:off x="6263640" y="3767328"/>
            <a:ext cx="998525" cy="329184"/>
          </a:xfrm>
          <a:prstGeom prst="roundRect">
            <a:avLst>
              <a:gd name="adj" fmla="val 50000"/>
            </a:avLst>
          </a:prstGeom>
          <a:solidFill>
            <a:srgbClr val="1B2547"/>
          </a:solidFill>
          <a:ln w="9525">
            <a:solidFill>
              <a:srgbClr val="323F72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6263640" y="3767328"/>
            <a:ext cx="9985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</a:t>
            </a:r>
            <a:endParaRPr lang="en-US" sz="1000" dirty="0"/>
          </a:p>
        </p:txBody>
      </p:sp>
      <p:sp>
        <p:nvSpPr>
          <p:cNvPr id="56" name="Shape 47"/>
          <p:cNvSpPr/>
          <p:nvPr/>
        </p:nvSpPr>
        <p:spPr>
          <a:xfrm>
            <a:off x="7390181" y="3767328"/>
            <a:ext cx="1400861" cy="329184"/>
          </a:xfrm>
          <a:prstGeom prst="roundRect">
            <a:avLst>
              <a:gd name="adj" fmla="val 50000"/>
            </a:avLst>
          </a:prstGeom>
          <a:solidFill>
            <a:srgbClr val="1B2547"/>
          </a:solidFill>
          <a:ln w="9525">
            <a:solidFill>
              <a:srgbClr val="323F72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7390181" y="3767328"/>
            <a:ext cx="14008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/api/customers</a:t>
            </a:r>
            <a:endParaRPr lang="en-US" sz="1000" dirty="0"/>
          </a:p>
        </p:txBody>
      </p:sp>
      <p:sp>
        <p:nvSpPr>
          <p:cNvPr id="58" name="Shape 49"/>
          <p:cNvSpPr/>
          <p:nvPr/>
        </p:nvSpPr>
        <p:spPr>
          <a:xfrm>
            <a:off x="8919058" y="376732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1B2547"/>
          </a:solidFill>
          <a:ln w="9525">
            <a:solidFill>
              <a:srgbClr val="323F72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>
            <a:off x="8919058" y="3767328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/api/leads</a:t>
            </a:r>
            <a:endParaRPr lang="en-US" sz="1000" dirty="0"/>
          </a:p>
        </p:txBody>
      </p:sp>
      <p:sp>
        <p:nvSpPr>
          <p:cNvPr id="60" name="Shape 51"/>
          <p:cNvSpPr/>
          <p:nvPr/>
        </p:nvSpPr>
        <p:spPr>
          <a:xfrm>
            <a:off x="6263640" y="4187952"/>
            <a:ext cx="1400861" cy="329184"/>
          </a:xfrm>
          <a:prstGeom prst="roundRect">
            <a:avLst>
              <a:gd name="adj" fmla="val 50000"/>
            </a:avLst>
          </a:prstGeom>
          <a:solidFill>
            <a:srgbClr val="1B2547"/>
          </a:solidFill>
          <a:ln w="9525">
            <a:solidFill>
              <a:srgbClr val="323F72"/>
            </a:solidFill>
            <a:prstDash val="solid"/>
          </a:ln>
        </p:spPr>
      </p:sp>
      <p:sp>
        <p:nvSpPr>
          <p:cNvPr id="61" name="Text 52"/>
          <p:cNvSpPr/>
          <p:nvPr/>
        </p:nvSpPr>
        <p:spPr>
          <a:xfrm>
            <a:off x="6263640" y="4187952"/>
            <a:ext cx="14008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/api/dashboard</a:t>
            </a:r>
            <a:endParaRPr lang="en-US" sz="1000" dirty="0"/>
          </a:p>
        </p:txBody>
      </p:sp>
      <p:sp>
        <p:nvSpPr>
          <p:cNvPr id="62" name="Shape 53"/>
          <p:cNvSpPr/>
          <p:nvPr/>
        </p:nvSpPr>
        <p:spPr>
          <a:xfrm>
            <a:off x="7792517" y="4187952"/>
            <a:ext cx="1400861" cy="329184"/>
          </a:xfrm>
          <a:prstGeom prst="roundRect">
            <a:avLst>
              <a:gd name="adj" fmla="val 50000"/>
            </a:avLst>
          </a:prstGeom>
          <a:solidFill>
            <a:srgbClr val="1B2547"/>
          </a:solidFill>
          <a:ln w="9525">
            <a:solidFill>
              <a:srgbClr val="323F72"/>
            </a:solidFill>
            <a:prstDash val="solid"/>
          </a:ln>
        </p:spPr>
      </p:sp>
      <p:sp>
        <p:nvSpPr>
          <p:cNvPr id="63" name="Text 54"/>
          <p:cNvSpPr/>
          <p:nvPr/>
        </p:nvSpPr>
        <p:spPr>
          <a:xfrm>
            <a:off x="7792517" y="4187952"/>
            <a:ext cx="14008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/api/analytics</a:t>
            </a:r>
            <a:endParaRPr lang="en-US" sz="1000" dirty="0"/>
          </a:p>
        </p:txBody>
      </p:sp>
      <p:sp>
        <p:nvSpPr>
          <p:cNvPr id="64" name="Shape 55"/>
          <p:cNvSpPr/>
          <p:nvPr/>
        </p:nvSpPr>
        <p:spPr>
          <a:xfrm>
            <a:off x="9321394" y="4187952"/>
            <a:ext cx="1722730" cy="329184"/>
          </a:xfrm>
          <a:prstGeom prst="roundRect">
            <a:avLst>
              <a:gd name="adj" fmla="val 50000"/>
            </a:avLst>
          </a:prstGeom>
          <a:solidFill>
            <a:srgbClr val="1B2547"/>
          </a:solidFill>
          <a:ln w="9525">
            <a:solidFill>
              <a:srgbClr val="323F72"/>
            </a:solidFill>
            <a:prstDash val="solid"/>
          </a:ln>
        </p:spPr>
      </p:sp>
      <p:sp>
        <p:nvSpPr>
          <p:cNvPr id="65" name="Text 56"/>
          <p:cNvSpPr/>
          <p:nvPr/>
        </p:nvSpPr>
        <p:spPr>
          <a:xfrm>
            <a:off x="9321394" y="4187952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/api/notifications</a:t>
            </a:r>
            <a:endParaRPr lang="en-US" sz="1000" dirty="0"/>
          </a:p>
        </p:txBody>
      </p:sp>
      <p:sp>
        <p:nvSpPr>
          <p:cNvPr id="66" name="Shape 57"/>
          <p:cNvSpPr/>
          <p:nvPr/>
        </p:nvSpPr>
        <p:spPr>
          <a:xfrm>
            <a:off x="6263640" y="4608576"/>
            <a:ext cx="1320394" cy="329184"/>
          </a:xfrm>
          <a:prstGeom prst="roundRect">
            <a:avLst>
              <a:gd name="adj" fmla="val 50000"/>
            </a:avLst>
          </a:prstGeom>
          <a:solidFill>
            <a:srgbClr val="1B2547"/>
          </a:solidFill>
          <a:ln w="9525">
            <a:solidFill>
              <a:srgbClr val="323F72"/>
            </a:solidFill>
            <a:prstDash val="solid"/>
          </a:ln>
        </p:spPr>
      </p:sp>
      <p:sp>
        <p:nvSpPr>
          <p:cNvPr id="67" name="Text 58"/>
          <p:cNvSpPr/>
          <p:nvPr/>
        </p:nvSpPr>
        <p:spPr>
          <a:xfrm>
            <a:off x="6263640" y="4608576"/>
            <a:ext cx="13203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/api/settings</a:t>
            </a:r>
            <a:endParaRPr lang="en-US" sz="1000" dirty="0"/>
          </a:p>
        </p:txBody>
      </p:sp>
      <p:sp>
        <p:nvSpPr>
          <p:cNvPr id="68" name="Text 59"/>
          <p:cNvSpPr/>
          <p:nvPr/>
        </p:nvSpPr>
        <p:spPr>
          <a:xfrm>
            <a:off x="6263640" y="53492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carry a JWT in the Authorization header; middleware verifies the token before the API touches MongoDB.</a:t>
            </a:r>
            <a:endParaRPr lang="en-US" sz="1000" dirty="0"/>
          </a:p>
        </p:txBody>
      </p:sp>
      <p:sp>
        <p:nvSpPr>
          <p:cNvPr id="69" name="Text 6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CRM360 · Project Overview</a:t>
            </a:r>
            <a:endParaRPr lang="en-US" sz="900" dirty="0"/>
          </a:p>
        </p:txBody>
      </p:sp>
      <p:sp>
        <p:nvSpPr>
          <p:cNvPr id="70" name="Text 61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13586" cy="310896"/>
          </a:xfrm>
          <a:prstGeom prst="roundRect">
            <a:avLst>
              <a:gd name="adj" fmla="val 50000"/>
            </a:avLst>
          </a:prstGeom>
          <a:solidFill>
            <a:srgbClr val="2563EB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4904"/>
            <a:ext cx="1713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Data 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frontend and backend exchange data over HTTP.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48844" y="1874520"/>
            <a:ext cx="153619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5772" y="1984248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" name="Image 0" descr="/home/claude/crm/icons/layou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379" y="2088855"/>
            <a:ext cx="193121" cy="1931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03124" y="245059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1875892" y="2276856"/>
            <a:ext cx="141732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1" name="Shape 8"/>
          <p:cNvSpPr/>
          <p:nvPr/>
        </p:nvSpPr>
        <p:spPr>
          <a:xfrm>
            <a:off x="2008480" y="1874520"/>
            <a:ext cx="153619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75408" y="1984248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1" descr="/home/claude/crm/icons/sen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0015" y="2088855"/>
            <a:ext cx="193121" cy="1931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62760" y="245059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860" dirty="0"/>
          </a:p>
        </p:txBody>
      </p:sp>
      <p:sp>
        <p:nvSpPr>
          <p:cNvPr id="15" name="Shape 11"/>
          <p:cNvSpPr/>
          <p:nvPr/>
        </p:nvSpPr>
        <p:spPr>
          <a:xfrm>
            <a:off x="3535528" y="2276856"/>
            <a:ext cx="141732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6" name="Shape 12"/>
          <p:cNvSpPr/>
          <p:nvPr/>
        </p:nvSpPr>
        <p:spPr>
          <a:xfrm>
            <a:off x="3668116" y="1874520"/>
            <a:ext cx="153619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35044" y="1984248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8" name="Image 2" descr="/home/claude/crm/icons/serv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9651" y="2088855"/>
            <a:ext cx="193121" cy="1931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622396" y="245059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860" dirty="0"/>
          </a:p>
        </p:txBody>
      </p:sp>
      <p:sp>
        <p:nvSpPr>
          <p:cNvPr id="20" name="Shape 15"/>
          <p:cNvSpPr/>
          <p:nvPr/>
        </p:nvSpPr>
        <p:spPr>
          <a:xfrm>
            <a:off x="5195164" y="2276856"/>
            <a:ext cx="141732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1" name="Shape 16"/>
          <p:cNvSpPr/>
          <p:nvPr/>
        </p:nvSpPr>
        <p:spPr>
          <a:xfrm>
            <a:off x="5327752" y="1874520"/>
            <a:ext cx="153619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894680" y="1984248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3" name="Image 3" descr="/home/claude/crm/icons/cpu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9287" y="2088855"/>
            <a:ext cx="193121" cy="19312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82032" y="245059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Request</a:t>
            </a:r>
            <a:endParaRPr lang="en-US" sz="860" dirty="0"/>
          </a:p>
        </p:txBody>
      </p:sp>
      <p:sp>
        <p:nvSpPr>
          <p:cNvPr id="25" name="Shape 19"/>
          <p:cNvSpPr/>
          <p:nvPr/>
        </p:nvSpPr>
        <p:spPr>
          <a:xfrm>
            <a:off x="6854800" y="2276856"/>
            <a:ext cx="141732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6" name="Shape 20"/>
          <p:cNvSpPr/>
          <p:nvPr/>
        </p:nvSpPr>
        <p:spPr>
          <a:xfrm>
            <a:off x="6987388" y="1874520"/>
            <a:ext cx="153619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554316" y="1984248"/>
            <a:ext cx="402336" cy="402336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28" name="Image 4" descr="/home/claude/crm/icons/databas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8923" y="2088855"/>
            <a:ext cx="193121" cy="19312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941668" y="245059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60" dirty="0"/>
          </a:p>
        </p:txBody>
      </p:sp>
      <p:sp>
        <p:nvSpPr>
          <p:cNvPr id="30" name="Shape 23"/>
          <p:cNvSpPr/>
          <p:nvPr/>
        </p:nvSpPr>
        <p:spPr>
          <a:xfrm>
            <a:off x="8514436" y="2276856"/>
            <a:ext cx="141732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31" name="Shape 24"/>
          <p:cNvSpPr/>
          <p:nvPr/>
        </p:nvSpPr>
        <p:spPr>
          <a:xfrm>
            <a:off x="8647024" y="1874520"/>
            <a:ext cx="153619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9213952" y="1984248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3" name="Image 5" descr="/home/claude/crm/icons/filetex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8559" y="2088855"/>
            <a:ext cx="193121" cy="193121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601304" y="245059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860" dirty="0"/>
          </a:p>
        </p:txBody>
      </p:sp>
      <p:sp>
        <p:nvSpPr>
          <p:cNvPr id="35" name="Shape 27"/>
          <p:cNvSpPr/>
          <p:nvPr/>
        </p:nvSpPr>
        <p:spPr>
          <a:xfrm>
            <a:off x="10174072" y="2276856"/>
            <a:ext cx="141732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36" name="Shape 28"/>
          <p:cNvSpPr/>
          <p:nvPr/>
        </p:nvSpPr>
        <p:spPr>
          <a:xfrm>
            <a:off x="10306660" y="1874520"/>
            <a:ext cx="153619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10873588" y="1984248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8" name="Image 6" descr="/home/claude/crm/icons/monitor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78195" y="2088855"/>
            <a:ext cx="193121" cy="193121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260940" y="245059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</a:t>
            </a:r>
            <a:endParaRPr lang="en-US" sz="860" dirty="0"/>
          </a:p>
        </p:txBody>
      </p:sp>
      <p:sp>
        <p:nvSpPr>
          <p:cNvPr id="40" name="Text 31"/>
          <p:cNvSpPr/>
          <p:nvPr/>
        </p:nvSpPr>
        <p:spPr>
          <a:xfrm>
            <a:off x="45720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HTTP Methods</a:t>
            </a:r>
            <a:endParaRPr lang="en-US" sz="1300" dirty="0"/>
          </a:p>
        </p:txBody>
      </p:sp>
      <p:sp>
        <p:nvSpPr>
          <p:cNvPr id="41" name="Shape 32"/>
          <p:cNvSpPr/>
          <p:nvPr/>
        </p:nvSpPr>
        <p:spPr>
          <a:xfrm>
            <a:off x="457200" y="3611880"/>
            <a:ext cx="270662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658368" y="3822192"/>
            <a:ext cx="415138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3" name="Text 34"/>
          <p:cNvSpPr/>
          <p:nvPr/>
        </p:nvSpPr>
        <p:spPr>
          <a:xfrm>
            <a:off x="658368" y="3817620"/>
            <a:ext cx="41513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50" dirty="0"/>
          </a:p>
        </p:txBody>
      </p:sp>
      <p:sp>
        <p:nvSpPr>
          <p:cNvPr id="44" name="Text 35"/>
          <p:cNvSpPr/>
          <p:nvPr/>
        </p:nvSpPr>
        <p:spPr>
          <a:xfrm>
            <a:off x="658368" y="4251960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data</a:t>
            </a:r>
            <a:endParaRPr lang="en-US" sz="1100" dirty="0"/>
          </a:p>
        </p:txBody>
      </p:sp>
      <p:sp>
        <p:nvSpPr>
          <p:cNvPr id="45" name="Shape 36"/>
          <p:cNvSpPr/>
          <p:nvPr/>
        </p:nvSpPr>
        <p:spPr>
          <a:xfrm>
            <a:off x="3300984" y="3611880"/>
            <a:ext cx="270662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3502152" y="3822192"/>
            <a:ext cx="486461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47" name="Text 38"/>
          <p:cNvSpPr/>
          <p:nvPr/>
        </p:nvSpPr>
        <p:spPr>
          <a:xfrm>
            <a:off x="3502152" y="3817620"/>
            <a:ext cx="48646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48" name="Text 39"/>
          <p:cNvSpPr/>
          <p:nvPr/>
        </p:nvSpPr>
        <p:spPr>
          <a:xfrm>
            <a:off x="3502152" y="4251960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</a:t>
            </a:r>
            <a:endParaRPr lang="en-US" sz="1100" dirty="0"/>
          </a:p>
        </p:txBody>
      </p:sp>
      <p:sp>
        <p:nvSpPr>
          <p:cNvPr id="49" name="Shape 40"/>
          <p:cNvSpPr/>
          <p:nvPr/>
        </p:nvSpPr>
        <p:spPr>
          <a:xfrm>
            <a:off x="6144768" y="3611880"/>
            <a:ext cx="270662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6345936" y="3822192"/>
            <a:ext cx="985723" cy="27432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51" name="Text 42"/>
          <p:cNvSpPr/>
          <p:nvPr/>
        </p:nvSpPr>
        <p:spPr>
          <a:xfrm>
            <a:off x="6345936" y="3817620"/>
            <a:ext cx="98572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 PATCH</a:t>
            </a:r>
            <a:endParaRPr lang="en-US" sz="1050" dirty="0"/>
          </a:p>
        </p:txBody>
      </p:sp>
      <p:sp>
        <p:nvSpPr>
          <p:cNvPr id="52" name="Text 43"/>
          <p:cNvSpPr/>
          <p:nvPr/>
        </p:nvSpPr>
        <p:spPr>
          <a:xfrm>
            <a:off x="6345936" y="4251960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data</a:t>
            </a:r>
            <a:endParaRPr lang="en-US" sz="1100" dirty="0"/>
          </a:p>
        </p:txBody>
      </p:sp>
      <p:sp>
        <p:nvSpPr>
          <p:cNvPr id="53" name="Shape 44"/>
          <p:cNvSpPr/>
          <p:nvPr/>
        </p:nvSpPr>
        <p:spPr>
          <a:xfrm>
            <a:off x="8988552" y="3611880"/>
            <a:ext cx="270662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9189720" y="3822192"/>
            <a:ext cx="629107" cy="2743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55" name="Text 46"/>
          <p:cNvSpPr/>
          <p:nvPr/>
        </p:nvSpPr>
        <p:spPr>
          <a:xfrm>
            <a:off x="9189720" y="3817620"/>
            <a:ext cx="62910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50" dirty="0"/>
          </a:p>
        </p:txBody>
      </p:sp>
      <p:sp>
        <p:nvSpPr>
          <p:cNvPr id="56" name="Text 47"/>
          <p:cNvSpPr/>
          <p:nvPr/>
        </p:nvSpPr>
        <p:spPr>
          <a:xfrm>
            <a:off x="9189720" y="4251960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data</a:t>
            </a:r>
            <a:endParaRPr lang="en-US" sz="1100" dirty="0"/>
          </a:p>
        </p:txBody>
      </p:sp>
      <p:sp>
        <p:nvSpPr>
          <p:cNvPr id="57" name="Text 4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CRM360 · Project Overview</a:t>
            </a:r>
            <a:endParaRPr lang="en-US" sz="900" dirty="0"/>
          </a:p>
        </p:txBody>
      </p:sp>
      <p:sp>
        <p:nvSpPr>
          <p:cNvPr id="58" name="Text 4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74090" cy="310896"/>
          </a:xfrm>
          <a:prstGeom prst="roundRect">
            <a:avLst>
              <a:gd name="adj" fmla="val 50000"/>
            </a:avLst>
          </a:prstGeom>
          <a:solidFill>
            <a:srgbClr val="06B6D4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4904"/>
            <a:ext cx="11740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stores each resource as a collection of flexible JSON-like documents.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99720" y="187452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0F1730"/>
          </a:solidFill>
          <a:ln/>
        </p:spPr>
      </p:sp>
      <p:sp>
        <p:nvSpPr>
          <p:cNvPr id="7" name="Text 5"/>
          <p:cNvSpPr/>
          <p:nvPr/>
        </p:nvSpPr>
        <p:spPr>
          <a:xfrm>
            <a:off x="499720" y="18745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33192" y="2103120"/>
            <a:ext cx="201168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9" name="Shape 7"/>
          <p:cNvSpPr/>
          <p:nvPr/>
        </p:nvSpPr>
        <p:spPr>
          <a:xfrm>
            <a:off x="3361792" y="187452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0F1730"/>
          </a:solidFill>
          <a:ln/>
        </p:spPr>
      </p:sp>
      <p:sp>
        <p:nvSpPr>
          <p:cNvPr id="10" name="Text 8"/>
          <p:cNvSpPr/>
          <p:nvPr/>
        </p:nvSpPr>
        <p:spPr>
          <a:xfrm>
            <a:off x="3361792" y="18745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Connection (Mongoose)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95264" y="2103120"/>
            <a:ext cx="201168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2" name="Shape 10"/>
          <p:cNvSpPr/>
          <p:nvPr/>
        </p:nvSpPr>
        <p:spPr>
          <a:xfrm>
            <a:off x="6223864" y="187452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6223864" y="18745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57336" y="2103120"/>
            <a:ext cx="201168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5" name="Shape 13"/>
          <p:cNvSpPr/>
          <p:nvPr/>
        </p:nvSpPr>
        <p:spPr>
          <a:xfrm>
            <a:off x="9085936" y="187452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0F1730"/>
          </a:solidFill>
          <a:ln/>
        </p:spPr>
      </p:sp>
      <p:sp>
        <p:nvSpPr>
          <p:cNvPr id="16" name="Text 14"/>
          <p:cNvSpPr/>
          <p:nvPr/>
        </p:nvSpPr>
        <p:spPr>
          <a:xfrm>
            <a:off x="9085936" y="18745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2706624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035808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9" name="Image 0" descr="/home/claude/crm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54680"/>
            <a:ext cx="219456" cy="21945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58368" y="361188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58368" y="393192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credentials, profile &amp; role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3264408" y="2834640"/>
            <a:ext cx="2706624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465576" y="3035808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24" name="Image 1" descr="/home/claude/crm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3154680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465576" y="361188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3465576" y="393192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company, email, phone, status</a:t>
            </a:r>
            <a:endParaRPr lang="en-US" sz="980" dirty="0"/>
          </a:p>
        </p:txBody>
      </p:sp>
      <p:sp>
        <p:nvSpPr>
          <p:cNvPr id="27" name="Shape 23"/>
          <p:cNvSpPr/>
          <p:nvPr/>
        </p:nvSpPr>
        <p:spPr>
          <a:xfrm>
            <a:off x="6071616" y="2834640"/>
            <a:ext cx="2706624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72784" y="3035808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29" name="Image 2" descr="/home/claude/crm/icons/targ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3154680"/>
            <a:ext cx="219456" cy="21945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272784" y="361188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6272784" y="393192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New → Contacted → Qualified → Converted</a:t>
            </a:r>
            <a:endParaRPr lang="en-US" sz="980" dirty="0"/>
          </a:p>
        </p:txBody>
      </p:sp>
      <p:sp>
        <p:nvSpPr>
          <p:cNvPr id="32" name="Shape 27"/>
          <p:cNvSpPr/>
          <p:nvPr/>
        </p:nvSpPr>
        <p:spPr>
          <a:xfrm>
            <a:off x="8878824" y="2834640"/>
            <a:ext cx="2706624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9079992" y="3035808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34" name="Image 3" descr="/home/claude/crm/icons/bel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4" y="3154680"/>
            <a:ext cx="219456" cy="21945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079992" y="361188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9079992" y="393192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events (e.g. lead converted)</a:t>
            </a:r>
            <a:endParaRPr lang="en-US" sz="980" dirty="0"/>
          </a:p>
        </p:txBody>
      </p:sp>
      <p:sp>
        <p:nvSpPr>
          <p:cNvPr id="37" name="Text 31"/>
          <p:cNvSpPr/>
          <p:nvPr/>
        </p:nvSpPr>
        <p:spPr>
          <a:xfrm>
            <a:off x="457200" y="49834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are auto-created by Mongoose from the app's schemas; inferred here from the API routes and UI — exact field names follow the actual models/ files.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CRM360 · Project Overview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1989" cy="310896"/>
          </a:xfrm>
          <a:prstGeom prst="roundRect">
            <a:avLst>
              <a:gd name="adj" fmla="val 50000"/>
            </a:avLst>
          </a:prstGeom>
          <a:solidFill>
            <a:srgbClr val="2563EB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4904"/>
            <a:ext cx="12819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 Flow — Example: Adding a Customer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95148" y="1965960"/>
            <a:ext cx="2724912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01572" y="2130552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/home/claude/crm/icons/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708" y="2263689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3164" y="2743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customer details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24632" y="2574036"/>
            <a:ext cx="91440" cy="109728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0" name="Shape 7"/>
          <p:cNvSpPr/>
          <p:nvPr/>
        </p:nvSpPr>
        <p:spPr>
          <a:xfrm>
            <a:off x="3320644" y="1965960"/>
            <a:ext cx="2724912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27068" y="2130552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1" descr="/home/claude/crm/icons/filetex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0204" y="226368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48660" y="2743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form captures the input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50128" y="2574036"/>
            <a:ext cx="91440" cy="109728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5" name="Shape 11"/>
          <p:cNvSpPr/>
          <p:nvPr/>
        </p:nvSpPr>
        <p:spPr>
          <a:xfrm>
            <a:off x="6146140" y="1965960"/>
            <a:ext cx="2724912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52564" y="2130552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7" name="Image 2" descr="/home/claude/crm/icons/checkcir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5700" y="2263689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74156" y="2743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runs before submit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875624" y="2574036"/>
            <a:ext cx="91440" cy="109728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20" name="Shape 15"/>
          <p:cNvSpPr/>
          <p:nvPr/>
        </p:nvSpPr>
        <p:spPr>
          <a:xfrm>
            <a:off x="8971636" y="1965960"/>
            <a:ext cx="2724912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78060" y="2130552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2" name="Image 3" descr="/home/claude/crm/icons/sen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1196" y="2263689"/>
            <a:ext cx="245791" cy="24579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99652" y="2743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 sent to the backend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1802740" y="3337560"/>
            <a:ext cx="109728" cy="41148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25" name="Shape 19"/>
          <p:cNvSpPr/>
          <p:nvPr/>
        </p:nvSpPr>
        <p:spPr>
          <a:xfrm>
            <a:off x="495148" y="3794760"/>
            <a:ext cx="2724912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601572" y="3959352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7" name="Image 4" descr="/home/claude/crm/icons/serv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4708" y="4092489"/>
            <a:ext cx="245791" cy="24579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23164" y="4572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processes the request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224632" y="4402836"/>
            <a:ext cx="91440" cy="109728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30" name="Shape 23"/>
          <p:cNvSpPr/>
          <p:nvPr/>
        </p:nvSpPr>
        <p:spPr>
          <a:xfrm>
            <a:off x="3320644" y="3794760"/>
            <a:ext cx="2724912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427068" y="3959352"/>
            <a:ext cx="512064" cy="512064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32" name="Image 5" descr="/home/claude/crm/icons/databas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0204" y="4092489"/>
            <a:ext cx="245791" cy="24579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448660" y="4572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saved in MongoDB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050128" y="4402836"/>
            <a:ext cx="91440" cy="109728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35" name="Shape 27"/>
          <p:cNvSpPr/>
          <p:nvPr/>
        </p:nvSpPr>
        <p:spPr>
          <a:xfrm>
            <a:off x="6146140" y="3794760"/>
            <a:ext cx="2724912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7252564" y="3959352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7" name="Image 6" descr="/home/claude/crm/icons/sen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5700" y="4092489"/>
            <a:ext cx="245791" cy="245791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274156" y="4572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backend send a response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8875624" y="4402836"/>
            <a:ext cx="91440" cy="109728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40" name="Shape 31"/>
          <p:cNvSpPr/>
          <p:nvPr/>
        </p:nvSpPr>
        <p:spPr>
          <a:xfrm>
            <a:off x="8971636" y="3794760"/>
            <a:ext cx="2724912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078060" y="3959352"/>
            <a:ext cx="512064" cy="512064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42" name="Image 7" descr="/home/claude/crm/icons/monitor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1196" y="4092489"/>
            <a:ext cx="245791" cy="245791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099652" y="4572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 the new customer appear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CRM360 · Project Overview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74090" cy="310896"/>
          </a:xfrm>
          <a:prstGeom prst="roundRect">
            <a:avLst>
              <a:gd name="adj" fmla="val 50000"/>
            </a:avLst>
          </a:prstGeom>
          <a:solidFill>
            <a:srgbClr val="7C3AED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4904"/>
            <a:ext cx="11740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Website Features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67716" y="1874520"/>
            <a:ext cx="272491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7564" y="2194560"/>
            <a:ext cx="585216" cy="58521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/home/claude/crm/icons/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720" y="2346716"/>
            <a:ext cx="280904" cy="280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4876" y="3017520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Authentication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11500" y="1874520"/>
            <a:ext cx="272491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1348" y="2194560"/>
            <a:ext cx="585216" cy="585216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1" name="Image 1" descr="/home/claude/crm/icons/bar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504" y="2346716"/>
            <a:ext cx="280904" cy="280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48660" y="3017520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Revenue Dashboard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155284" y="1874520"/>
            <a:ext cx="272491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225132" y="2194560"/>
            <a:ext cx="585216" cy="585216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5" name="Image 2" descr="/home/claude/crm/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7288" y="2346716"/>
            <a:ext cx="280904" cy="2809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92444" y="3017520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999068" y="1874520"/>
            <a:ext cx="272491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10068916" y="2194560"/>
            <a:ext cx="585216" cy="585216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9" name="Image 3" descr="/home/claude/crm/icons/targe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1072" y="2346716"/>
            <a:ext cx="280904" cy="2809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36228" y="3017520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Tracking &amp; Conversion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67716" y="4069080"/>
            <a:ext cx="272491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537564" y="4389120"/>
            <a:ext cx="585216" cy="585216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3" name="Image 4" descr="/home/claude/crm/icons/bar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720" y="4541276"/>
            <a:ext cx="280904" cy="28090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04876" y="5212080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 Analytics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3311500" y="4069080"/>
            <a:ext cx="272491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381348" y="4389120"/>
            <a:ext cx="585216" cy="585216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7" name="Image 5" descr="/home/claude/crm/icons/bell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3504" y="4541276"/>
            <a:ext cx="280904" cy="28090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448660" y="5212080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6155284" y="4069080"/>
            <a:ext cx="272491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7225132" y="4389120"/>
            <a:ext cx="585216" cy="58521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1" name="Image 6" descr="/home/claude/crm/icons/setting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7288" y="4541276"/>
            <a:ext cx="280904" cy="28090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292444" y="5212080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Settings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8999068" y="4069080"/>
            <a:ext cx="272491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10068916" y="4389120"/>
            <a:ext cx="585216" cy="585216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5" name="Image 7" descr="/home/claude/crm/icons/monitor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21072" y="4541276"/>
            <a:ext cx="280904" cy="28090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136228" y="5212080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/ System Theme</a:t>
            </a:r>
            <a:endParaRPr lang="en-US" sz="1150" dirty="0"/>
          </a:p>
        </p:txBody>
      </p:sp>
      <p:sp>
        <p:nvSpPr>
          <p:cNvPr id="37" name="Text 2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CRM360 · Project Overview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74090" cy="310896"/>
          </a:xfrm>
          <a:prstGeom prst="roundRect">
            <a:avLst>
              <a:gd name="adj" fmla="val 50000"/>
            </a:avLst>
          </a:prstGeom>
          <a:solidFill>
            <a:srgbClr val="06B6D4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4904"/>
            <a:ext cx="11740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Folder Structure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apps — client and server — run as separate processes over the REST API.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0F1730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084832"/>
            <a:ext cx="4892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E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CRM360/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E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client/            React + Vite frontend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E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src/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E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components/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E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pages/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E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routes/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E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services/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E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server/            Node + Express backend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E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config/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E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controllers/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E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middleware/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E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models/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E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routes/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E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server.js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E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.gitignore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E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874520"/>
            <a:ext cx="5650992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55080" y="2057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Folder Does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242316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client/src/components/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55080" y="26426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UI building blocks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6355080" y="288950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client/src/pages/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55080" y="310896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per CRM module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6355080" y="335584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client/src/services/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55080" y="357530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 wrappers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355080" y="382219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server/routes/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55080" y="404164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URLs to controllers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6355080" y="428853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server/controllers/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55080" y="450799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handling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6355080" y="475488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server/models/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55080" y="497433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schemas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6355080" y="522122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server/middleware/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55080" y="544068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checks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6355080" y="56875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server/config/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55080" y="590702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connection setup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CRM360 · Project Overview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13586" cy="310896"/>
          </a:xfrm>
          <a:prstGeom prst="roundRect">
            <a:avLst>
              <a:gd name="adj" fmla="val 50000"/>
            </a:avLst>
          </a:prstGeom>
          <a:solidFill>
            <a:srgbClr val="F97316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4904"/>
            <a:ext cx="1713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server's runtime configuration — expected values based on the stack (port, database, JWT secret).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6035040" cy="2834640"/>
          </a:xfrm>
          <a:prstGeom prst="roundRect">
            <a:avLst>
              <a:gd name="adj" fmla="val 2903"/>
            </a:avLst>
          </a:prstGeom>
          <a:solidFill>
            <a:srgbClr val="0F1730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1945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A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  (server/)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</a:t>
            </a:r>
            <a:r>
              <a:rPr lang="en-US" sz="1250" dirty="0">
                <a:solidFill>
                  <a:srgbClr val="6E7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250" dirty="0">
                <a:solidFill>
                  <a:srgbClr val="E7E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05409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MONGO_URI</a:t>
            </a:r>
            <a:r>
              <a:rPr lang="en-US" sz="1250" dirty="0">
                <a:solidFill>
                  <a:srgbClr val="6E7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250" dirty="0">
                <a:solidFill>
                  <a:srgbClr val="E7E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&lt;your_mongodb_connection_string&gt;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4564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</a:t>
            </a:r>
            <a:r>
              <a:rPr lang="en-US" sz="1250" dirty="0">
                <a:solidFill>
                  <a:srgbClr val="6E7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250" dirty="0">
                <a:solidFill>
                  <a:srgbClr val="E7E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&lt;your_jwt_secret&gt;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720840" y="1965960"/>
            <a:ext cx="5010912" cy="2834640"/>
          </a:xfrm>
          <a:prstGeom prst="roundRect">
            <a:avLst>
              <a:gd name="adj" fmla="val 2903"/>
            </a:avLst>
          </a:prstGeom>
          <a:solidFill>
            <a:srgbClr val="FEE2E2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95160" y="219456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3" name="Image 0" descr="/home/claude/crm/icons/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2313432"/>
            <a:ext cx="219456" cy="2194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571232" y="2286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Secrets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995160" y="2788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passwords, API keys, database credentials, or JWT secrets publicly. The .env file stays out of Git via .gitignore.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values reflect the stack's known configuration (Node/Express on port 5000 with MongoDB + JWT); confirm the exact keys against the project's own .env before presenting.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CRM360 · Project Overview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50392" cy="310896"/>
          </a:xfrm>
          <a:prstGeom prst="roundRect">
            <a:avLst>
              <a:gd name="adj" fmla="val 50000"/>
            </a:avLst>
          </a:prstGeom>
          <a:solidFill>
            <a:srgbClr val="2563EB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4904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Install the Project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4712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2011680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/home/claude/crm/icons/downloa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19" y="2135307"/>
            <a:ext cx="228234" cy="22823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24128" y="1892808"/>
            <a:ext cx="256032" cy="256032"/>
          </a:xfrm>
          <a:prstGeom prst="ellipse">
            <a:avLst/>
          </a:prstGeom>
          <a:solidFill>
            <a:srgbClr val="0F1730"/>
          </a:solidFill>
          <a:ln/>
        </p:spPr>
      </p:sp>
      <p:sp>
        <p:nvSpPr>
          <p:cNvPr id="9" name="Text 6"/>
          <p:cNvSpPr/>
          <p:nvPr/>
        </p:nvSpPr>
        <p:spPr>
          <a:xfrm>
            <a:off x="1024128" y="1883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80160" y="19842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prerequisites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280160" y="2258568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Node.js, npm, MongoDB, Git and VS Code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457200" y="2715768"/>
            <a:ext cx="1124712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" y="2852928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4" name="Image 1" descr="/home/claude/crm/icons/folderope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419" y="2976555"/>
            <a:ext cx="228234" cy="22823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024128" y="2734056"/>
            <a:ext cx="256032" cy="256032"/>
          </a:xfrm>
          <a:prstGeom prst="ellipse">
            <a:avLst/>
          </a:prstGeom>
          <a:solidFill>
            <a:srgbClr val="0F1730"/>
          </a:solidFill>
          <a:ln/>
        </p:spPr>
      </p:sp>
      <p:sp>
        <p:nvSpPr>
          <p:cNvPr id="16" name="Text 12"/>
          <p:cNvSpPr/>
          <p:nvPr/>
        </p:nvSpPr>
        <p:spPr>
          <a:xfrm>
            <a:off x="1024128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280160" y="282549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repository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280160" y="3099816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github.com/beesank8/CRM360--SaaS-Customer-Relationship-Management</a:t>
            </a:r>
            <a:endParaRPr lang="en-US" sz="1020" dirty="0"/>
          </a:p>
        </p:txBody>
      </p:sp>
      <p:sp>
        <p:nvSpPr>
          <p:cNvPr id="19" name="Shape 15"/>
          <p:cNvSpPr/>
          <p:nvPr/>
        </p:nvSpPr>
        <p:spPr>
          <a:xfrm>
            <a:off x="457200" y="3557016"/>
            <a:ext cx="1124712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1792" y="3694176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1" name="Image 2" descr="/home/claude/crm/icons/monito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419" y="3817803"/>
            <a:ext cx="228234" cy="22823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024128" y="3575304"/>
            <a:ext cx="256032" cy="256032"/>
          </a:xfrm>
          <a:prstGeom prst="ellipse">
            <a:avLst/>
          </a:prstGeom>
          <a:solidFill>
            <a:srgbClr val="0F1730"/>
          </a:solidFill>
          <a:ln/>
        </p:spPr>
      </p:sp>
      <p:sp>
        <p:nvSpPr>
          <p:cNvPr id="23" name="Text 18"/>
          <p:cNvSpPr/>
          <p:nvPr/>
        </p:nvSpPr>
        <p:spPr>
          <a:xfrm>
            <a:off x="1024128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280160" y="366674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VS Code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1280160" y="394106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→ Open Folder → select the CRM360 folder</a:t>
            </a:r>
            <a:endParaRPr lang="en-US" sz="1020" dirty="0"/>
          </a:p>
        </p:txBody>
      </p:sp>
      <p:sp>
        <p:nvSpPr>
          <p:cNvPr id="26" name="Shape 21"/>
          <p:cNvSpPr/>
          <p:nvPr/>
        </p:nvSpPr>
        <p:spPr>
          <a:xfrm>
            <a:off x="457200" y="4398264"/>
            <a:ext cx="1124712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21792" y="4535424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8" name="Image 3" descr="/home/claude/crm/icons/terminal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419" y="4659051"/>
            <a:ext cx="228234" cy="228234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1024128" y="4416552"/>
            <a:ext cx="256032" cy="256032"/>
          </a:xfrm>
          <a:prstGeom prst="ellipse">
            <a:avLst/>
          </a:prstGeom>
          <a:solidFill>
            <a:srgbClr val="0F1730"/>
          </a:solidFill>
          <a:ln/>
        </p:spPr>
      </p:sp>
      <p:sp>
        <p:nvSpPr>
          <p:cNvPr id="30" name="Text 24"/>
          <p:cNvSpPr/>
          <p:nvPr/>
        </p:nvSpPr>
        <p:spPr>
          <a:xfrm>
            <a:off x="1024128" y="4407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1280160" y="450799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start the server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1280160" y="4782312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1:  cd server → npm install → npm start  (port 5000)</a:t>
            </a:r>
            <a:endParaRPr lang="en-US" sz="1020" dirty="0"/>
          </a:p>
        </p:txBody>
      </p:sp>
      <p:sp>
        <p:nvSpPr>
          <p:cNvPr id="33" name="Shape 27"/>
          <p:cNvSpPr/>
          <p:nvPr/>
        </p:nvSpPr>
        <p:spPr>
          <a:xfrm>
            <a:off x="457200" y="5239512"/>
            <a:ext cx="1124712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21792" y="5376672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5" name="Image 4" descr="/home/claude/crm/icons/terminal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419" y="5500299"/>
            <a:ext cx="228234" cy="228234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1024128" y="5257800"/>
            <a:ext cx="256032" cy="256032"/>
          </a:xfrm>
          <a:prstGeom prst="ellipse">
            <a:avLst/>
          </a:prstGeom>
          <a:solidFill>
            <a:srgbClr val="0F1730"/>
          </a:solidFill>
          <a:ln/>
        </p:spPr>
      </p:sp>
      <p:sp>
        <p:nvSpPr>
          <p:cNvPr id="37" name="Text 30"/>
          <p:cNvSpPr/>
          <p:nvPr/>
        </p:nvSpPr>
        <p:spPr>
          <a:xfrm>
            <a:off x="1024128" y="5248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1280160" y="534924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start the client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1280160" y="562356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2:  cd client → npm install → npm run dev  (port 5173)</a:t>
            </a:r>
            <a:endParaRPr lang="en-US" sz="1020" dirty="0"/>
          </a:p>
        </p:txBody>
      </p:sp>
      <p:sp>
        <p:nvSpPr>
          <p:cNvPr id="40" name="Text 3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CRM360 · Project Overview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50392" cy="310896"/>
          </a:xfrm>
          <a:prstGeom prst="roundRect">
            <a:avLst>
              <a:gd name="adj" fmla="val 50000"/>
            </a:avLst>
          </a:prstGeom>
          <a:solidFill>
            <a:srgbClr val="7C3AED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4904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the Project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89408" y="1874520"/>
            <a:ext cx="1572768" cy="868680"/>
          </a:xfrm>
          <a:prstGeom prst="roundRect">
            <a:avLst>
              <a:gd name="adj" fmla="val 9474"/>
            </a:avLst>
          </a:prstGeom>
          <a:solidFill>
            <a:srgbClr val="0F1730"/>
          </a:solidFill>
          <a:ln/>
        </p:spPr>
      </p:sp>
      <p:sp>
        <p:nvSpPr>
          <p:cNvPr id="6" name="Text 4"/>
          <p:cNvSpPr/>
          <p:nvPr/>
        </p:nvSpPr>
        <p:spPr>
          <a:xfrm>
            <a:off x="362560" y="187452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Terminal</a:t>
            </a: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1866748" y="2253996"/>
            <a:ext cx="91440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1962760" y="1874520"/>
            <a:ext cx="1572768" cy="868680"/>
          </a:xfrm>
          <a:prstGeom prst="roundRect">
            <a:avLst>
              <a:gd name="adj" fmla="val 9474"/>
            </a:avLst>
          </a:prstGeom>
          <a:solidFill>
            <a:srgbClr val="0F1730"/>
          </a:solidFill>
          <a:ln/>
        </p:spPr>
      </p:sp>
      <p:sp>
        <p:nvSpPr>
          <p:cNvPr id="9" name="Text 7"/>
          <p:cNvSpPr/>
          <p:nvPr/>
        </p:nvSpPr>
        <p:spPr>
          <a:xfrm>
            <a:off x="2035912" y="187452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Project Folder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3540100" y="2253996"/>
            <a:ext cx="91440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3636112" y="1874520"/>
            <a:ext cx="1572768" cy="868680"/>
          </a:xfrm>
          <a:prstGeom prst="roundRect">
            <a:avLst>
              <a:gd name="adj" fmla="val 9474"/>
            </a:avLst>
          </a:prstGeom>
          <a:solidFill>
            <a:srgbClr val="0F1730"/>
          </a:solidFill>
          <a:ln/>
        </p:spPr>
      </p:sp>
      <p:sp>
        <p:nvSpPr>
          <p:cNvPr id="12" name="Text 10"/>
          <p:cNvSpPr/>
          <p:nvPr/>
        </p:nvSpPr>
        <p:spPr>
          <a:xfrm>
            <a:off x="3709264" y="187452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5213452" y="2253996"/>
            <a:ext cx="91440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4" name="Shape 12"/>
          <p:cNvSpPr/>
          <p:nvPr/>
        </p:nvSpPr>
        <p:spPr>
          <a:xfrm>
            <a:off x="5309464" y="1874520"/>
            <a:ext cx="1572768" cy="868680"/>
          </a:xfrm>
          <a:prstGeom prst="roundRect">
            <a:avLst>
              <a:gd name="adj" fmla="val 9474"/>
            </a:avLst>
          </a:prstGeom>
          <a:solidFill>
            <a:srgbClr val="0F1730"/>
          </a:solidFill>
          <a:ln/>
        </p:spPr>
      </p:sp>
      <p:sp>
        <p:nvSpPr>
          <p:cNvPr id="15" name="Text 13"/>
          <p:cNvSpPr/>
          <p:nvPr/>
        </p:nvSpPr>
        <p:spPr>
          <a:xfrm>
            <a:off x="5382616" y="187452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MongoDB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6886804" y="2253996"/>
            <a:ext cx="91440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7" name="Shape 15"/>
          <p:cNvSpPr/>
          <p:nvPr/>
        </p:nvSpPr>
        <p:spPr>
          <a:xfrm>
            <a:off x="6982816" y="1874520"/>
            <a:ext cx="1572768" cy="868680"/>
          </a:xfrm>
          <a:prstGeom prst="roundRect">
            <a:avLst>
              <a:gd name="adj" fmla="val 9474"/>
            </a:avLst>
          </a:prstGeom>
          <a:solidFill>
            <a:srgbClr val="0F1730"/>
          </a:solidFill>
          <a:ln/>
        </p:spPr>
      </p:sp>
      <p:sp>
        <p:nvSpPr>
          <p:cNvPr id="18" name="Text 16"/>
          <p:cNvSpPr/>
          <p:nvPr/>
        </p:nvSpPr>
        <p:spPr>
          <a:xfrm>
            <a:off x="7055968" y="187452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Backend Server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560156" y="2253996"/>
            <a:ext cx="91440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0" name="Shape 18"/>
          <p:cNvSpPr/>
          <p:nvPr/>
        </p:nvSpPr>
        <p:spPr>
          <a:xfrm>
            <a:off x="8656168" y="1874520"/>
            <a:ext cx="1572768" cy="868680"/>
          </a:xfrm>
          <a:prstGeom prst="roundRect">
            <a:avLst>
              <a:gd name="adj" fmla="val 9474"/>
            </a:avLst>
          </a:prstGeom>
          <a:solidFill>
            <a:srgbClr val="0F1730"/>
          </a:solidFill>
          <a:ln/>
        </p:spPr>
      </p:sp>
      <p:sp>
        <p:nvSpPr>
          <p:cNvPr id="21" name="Text 19"/>
          <p:cNvSpPr/>
          <p:nvPr/>
        </p:nvSpPr>
        <p:spPr>
          <a:xfrm>
            <a:off x="8729320" y="187452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Frontend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10233508" y="2253996"/>
            <a:ext cx="91440" cy="10972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29520" y="1874520"/>
            <a:ext cx="1572768" cy="868680"/>
          </a:xfrm>
          <a:prstGeom prst="roundRect">
            <a:avLst>
              <a:gd name="adj" fmla="val 9474"/>
            </a:avLst>
          </a:prstGeom>
          <a:solidFill>
            <a:srgbClr val="0F1730"/>
          </a:solidFill>
          <a:ln/>
        </p:spPr>
      </p:sp>
      <p:sp>
        <p:nvSpPr>
          <p:cNvPr id="24" name="Text 22"/>
          <p:cNvSpPr/>
          <p:nvPr/>
        </p:nvSpPr>
        <p:spPr>
          <a:xfrm>
            <a:off x="10402672" y="187452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Localhost URL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4495648" y="2971800"/>
            <a:ext cx="3200400" cy="54864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4495648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Running Successfully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40984" y="2788920"/>
            <a:ext cx="109728" cy="365760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28" name="Shape 26"/>
          <p:cNvSpPr/>
          <p:nvPr/>
        </p:nvSpPr>
        <p:spPr>
          <a:xfrm>
            <a:off x="2194560" y="38404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423160" y="40233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0" name="Image 0" descr="/home/claude/crm/icons/monit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4142232"/>
            <a:ext cx="219456" cy="219456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2999232" y="40416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2423160" y="44988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http://localhost:5173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400800" y="38404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629400" y="40233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5" name="Image 1" descr="/home/claude/crm/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4142232"/>
            <a:ext cx="219456" cy="219456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7205472" y="40416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37" name="Text 33"/>
          <p:cNvSpPr/>
          <p:nvPr/>
        </p:nvSpPr>
        <p:spPr>
          <a:xfrm>
            <a:off x="6629400" y="44988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http://localhost:5000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MongoDB is running locally (or your Atlas connection is reachable) before starting the backend.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CRM360 · Project Overview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05686" cy="310896"/>
          </a:xfrm>
          <a:prstGeom prst="roundRect">
            <a:avLst>
              <a:gd name="adj" fmla="val 50000"/>
            </a:avLst>
          </a:prstGeom>
          <a:solidFill>
            <a:srgbClr val="06B6D4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4904"/>
            <a:ext cx="16056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DIAGRAM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Application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94564" y="1508760"/>
            <a:ext cx="1033272" cy="1325880"/>
          </a:xfrm>
          <a:prstGeom prst="roundRect">
            <a:avLst>
              <a:gd name="adj" fmla="val 8850"/>
            </a:avLst>
          </a:prstGeom>
          <a:solidFill>
            <a:srgbClr val="1B2547"/>
          </a:solidFill>
          <a:ln w="9525">
            <a:solidFill>
              <a:srgbClr val="2C38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1744" y="1673352"/>
            <a:ext cx="438912" cy="438912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7" name="Image 0" descr="/home/claude/crm/icons/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61" y="1787469"/>
            <a:ext cx="210678" cy="21067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8844" y="2221992"/>
            <a:ext cx="1124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30" dirty="0"/>
          </a:p>
        </p:txBody>
      </p:sp>
      <p:sp>
        <p:nvSpPr>
          <p:cNvPr id="9" name="Shape 6"/>
          <p:cNvSpPr/>
          <p:nvPr/>
        </p:nvSpPr>
        <p:spPr>
          <a:xfrm>
            <a:off x="1432408" y="2116836"/>
            <a:ext cx="109728" cy="109728"/>
          </a:xfrm>
          <a:prstGeom prst="rightArrow">
            <a:avLst/>
          </a:prstGeom>
          <a:solidFill>
            <a:srgbClr val="5B6796"/>
          </a:solidFill>
          <a:ln/>
        </p:spPr>
      </p:sp>
      <p:sp>
        <p:nvSpPr>
          <p:cNvPr id="10" name="Shape 7"/>
          <p:cNvSpPr/>
          <p:nvPr/>
        </p:nvSpPr>
        <p:spPr>
          <a:xfrm>
            <a:off x="1546708" y="1508760"/>
            <a:ext cx="1033272" cy="1325880"/>
          </a:xfrm>
          <a:prstGeom prst="roundRect">
            <a:avLst>
              <a:gd name="adj" fmla="val 8850"/>
            </a:avLst>
          </a:prstGeom>
          <a:solidFill>
            <a:srgbClr val="1B2547"/>
          </a:solidFill>
          <a:ln w="9525">
            <a:solidFill>
              <a:srgbClr val="2C386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43888" y="1673352"/>
            <a:ext cx="438912" cy="438912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12" name="Image 1" descr="/home/claude/crm/icons/monito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8005" y="1787469"/>
            <a:ext cx="210678" cy="21067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0988" y="2221992"/>
            <a:ext cx="1124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830" dirty="0"/>
          </a:p>
        </p:txBody>
      </p:sp>
      <p:sp>
        <p:nvSpPr>
          <p:cNvPr id="14" name="Shape 10"/>
          <p:cNvSpPr/>
          <p:nvPr/>
        </p:nvSpPr>
        <p:spPr>
          <a:xfrm>
            <a:off x="2584552" y="2116836"/>
            <a:ext cx="109728" cy="109728"/>
          </a:xfrm>
          <a:prstGeom prst="rightArrow">
            <a:avLst/>
          </a:prstGeom>
          <a:solidFill>
            <a:srgbClr val="5B6796"/>
          </a:solidFill>
          <a:ln/>
        </p:spPr>
      </p:sp>
      <p:sp>
        <p:nvSpPr>
          <p:cNvPr id="15" name="Shape 11"/>
          <p:cNvSpPr/>
          <p:nvPr/>
        </p:nvSpPr>
        <p:spPr>
          <a:xfrm>
            <a:off x="2698852" y="1508760"/>
            <a:ext cx="1033272" cy="1325880"/>
          </a:xfrm>
          <a:prstGeom prst="roundRect">
            <a:avLst>
              <a:gd name="adj" fmla="val 8850"/>
            </a:avLst>
          </a:prstGeom>
          <a:solidFill>
            <a:srgbClr val="1B2547"/>
          </a:solidFill>
          <a:ln w="9525">
            <a:solidFill>
              <a:srgbClr val="2C386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996032" y="1673352"/>
            <a:ext cx="438912" cy="43891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7" name="Image 2" descr="/home/claude/crm/icons/layou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0149" y="1787469"/>
            <a:ext cx="210678" cy="21067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653132" y="2221992"/>
            <a:ext cx="1124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830" dirty="0"/>
          </a:p>
        </p:txBody>
      </p:sp>
      <p:sp>
        <p:nvSpPr>
          <p:cNvPr id="19" name="Shape 14"/>
          <p:cNvSpPr/>
          <p:nvPr/>
        </p:nvSpPr>
        <p:spPr>
          <a:xfrm>
            <a:off x="3736696" y="2116836"/>
            <a:ext cx="109728" cy="109728"/>
          </a:xfrm>
          <a:prstGeom prst="rightArrow">
            <a:avLst/>
          </a:prstGeom>
          <a:solidFill>
            <a:srgbClr val="5B6796"/>
          </a:solidFill>
          <a:ln/>
        </p:spPr>
      </p:sp>
      <p:sp>
        <p:nvSpPr>
          <p:cNvPr id="20" name="Shape 15"/>
          <p:cNvSpPr/>
          <p:nvPr/>
        </p:nvSpPr>
        <p:spPr>
          <a:xfrm>
            <a:off x="3850996" y="1508760"/>
            <a:ext cx="1033272" cy="1325880"/>
          </a:xfrm>
          <a:prstGeom prst="roundRect">
            <a:avLst>
              <a:gd name="adj" fmla="val 8850"/>
            </a:avLst>
          </a:prstGeom>
          <a:solidFill>
            <a:srgbClr val="1B2547"/>
          </a:solidFill>
          <a:ln w="9525">
            <a:solidFill>
              <a:srgbClr val="2C386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148176" y="1673352"/>
            <a:ext cx="438912" cy="43891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2" name="Image 3" descr="/home/claude/crm/icons/loginbox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2293" y="1787469"/>
            <a:ext cx="210678" cy="21067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805276" y="2221992"/>
            <a:ext cx="1124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830" dirty="0"/>
          </a:p>
        </p:txBody>
      </p:sp>
      <p:sp>
        <p:nvSpPr>
          <p:cNvPr id="24" name="Shape 18"/>
          <p:cNvSpPr/>
          <p:nvPr/>
        </p:nvSpPr>
        <p:spPr>
          <a:xfrm>
            <a:off x="4888840" y="2116836"/>
            <a:ext cx="109728" cy="109728"/>
          </a:xfrm>
          <a:prstGeom prst="rightArrow">
            <a:avLst/>
          </a:prstGeom>
          <a:solidFill>
            <a:srgbClr val="5B6796"/>
          </a:solidFill>
          <a:ln/>
        </p:spPr>
      </p:sp>
      <p:sp>
        <p:nvSpPr>
          <p:cNvPr id="25" name="Shape 19"/>
          <p:cNvSpPr/>
          <p:nvPr/>
        </p:nvSpPr>
        <p:spPr>
          <a:xfrm>
            <a:off x="5003140" y="1508760"/>
            <a:ext cx="1033272" cy="1325880"/>
          </a:xfrm>
          <a:prstGeom prst="roundRect">
            <a:avLst>
              <a:gd name="adj" fmla="val 8850"/>
            </a:avLst>
          </a:prstGeom>
          <a:solidFill>
            <a:srgbClr val="1B2547"/>
          </a:solidFill>
          <a:ln w="9525">
            <a:solidFill>
              <a:srgbClr val="2C3868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300320" y="1673352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7" name="Image 4" descr="/home/claude/crm/icons/sen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4437" y="1787469"/>
            <a:ext cx="210678" cy="21067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57420" y="2221992"/>
            <a:ext cx="1124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 (JWT)</a:t>
            </a:r>
            <a:endParaRPr lang="en-US" sz="830" dirty="0"/>
          </a:p>
        </p:txBody>
      </p:sp>
      <p:sp>
        <p:nvSpPr>
          <p:cNvPr id="29" name="Shape 22"/>
          <p:cNvSpPr/>
          <p:nvPr/>
        </p:nvSpPr>
        <p:spPr>
          <a:xfrm>
            <a:off x="6040984" y="2116836"/>
            <a:ext cx="109728" cy="109728"/>
          </a:xfrm>
          <a:prstGeom prst="rightArrow">
            <a:avLst/>
          </a:prstGeom>
          <a:solidFill>
            <a:srgbClr val="5B6796"/>
          </a:solidFill>
          <a:ln/>
        </p:spPr>
      </p:sp>
      <p:sp>
        <p:nvSpPr>
          <p:cNvPr id="30" name="Shape 23"/>
          <p:cNvSpPr/>
          <p:nvPr/>
        </p:nvSpPr>
        <p:spPr>
          <a:xfrm>
            <a:off x="6155284" y="1508760"/>
            <a:ext cx="1033272" cy="1325880"/>
          </a:xfrm>
          <a:prstGeom prst="roundRect">
            <a:avLst>
              <a:gd name="adj" fmla="val 8850"/>
            </a:avLst>
          </a:prstGeom>
          <a:solidFill>
            <a:srgbClr val="1B2547"/>
          </a:solidFill>
          <a:ln w="9525">
            <a:solidFill>
              <a:srgbClr val="2C3868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452464" y="1673352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2" name="Image 5" descr="/home/claude/crm/icons/serve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6581" y="1787469"/>
            <a:ext cx="210678" cy="21067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109564" y="2221992"/>
            <a:ext cx="1124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</a:t>
            </a:r>
            <a:endParaRPr lang="en-US" sz="830" dirty="0"/>
          </a:p>
        </p:txBody>
      </p:sp>
      <p:sp>
        <p:nvSpPr>
          <p:cNvPr id="34" name="Shape 26"/>
          <p:cNvSpPr/>
          <p:nvPr/>
        </p:nvSpPr>
        <p:spPr>
          <a:xfrm>
            <a:off x="7193128" y="2116836"/>
            <a:ext cx="109728" cy="109728"/>
          </a:xfrm>
          <a:prstGeom prst="rightArrow">
            <a:avLst/>
          </a:prstGeom>
          <a:solidFill>
            <a:srgbClr val="5B6796"/>
          </a:solidFill>
          <a:ln/>
        </p:spPr>
      </p:sp>
      <p:sp>
        <p:nvSpPr>
          <p:cNvPr id="35" name="Shape 27"/>
          <p:cNvSpPr/>
          <p:nvPr/>
        </p:nvSpPr>
        <p:spPr>
          <a:xfrm>
            <a:off x="7307428" y="1508760"/>
            <a:ext cx="1033272" cy="1325880"/>
          </a:xfrm>
          <a:prstGeom prst="roundRect">
            <a:avLst>
              <a:gd name="adj" fmla="val 8850"/>
            </a:avLst>
          </a:prstGeom>
          <a:solidFill>
            <a:srgbClr val="1B2547"/>
          </a:solidFill>
          <a:ln w="9525">
            <a:solidFill>
              <a:srgbClr val="2C3868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604608" y="1673352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7" name="Image 6" descr="/home/claude/crm/icons/lo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8725" y="1787469"/>
            <a:ext cx="210678" cy="21067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261708" y="2221992"/>
            <a:ext cx="1124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Business Logic</a:t>
            </a:r>
            <a:endParaRPr lang="en-US" sz="830" dirty="0"/>
          </a:p>
        </p:txBody>
      </p:sp>
      <p:sp>
        <p:nvSpPr>
          <p:cNvPr id="39" name="Shape 30"/>
          <p:cNvSpPr/>
          <p:nvPr/>
        </p:nvSpPr>
        <p:spPr>
          <a:xfrm>
            <a:off x="8345272" y="2116836"/>
            <a:ext cx="109728" cy="109728"/>
          </a:xfrm>
          <a:prstGeom prst="rightArrow">
            <a:avLst/>
          </a:prstGeom>
          <a:solidFill>
            <a:srgbClr val="5B6796"/>
          </a:solidFill>
          <a:ln/>
        </p:spPr>
      </p:sp>
      <p:sp>
        <p:nvSpPr>
          <p:cNvPr id="40" name="Shape 31"/>
          <p:cNvSpPr/>
          <p:nvPr/>
        </p:nvSpPr>
        <p:spPr>
          <a:xfrm>
            <a:off x="8459572" y="1508760"/>
            <a:ext cx="1033272" cy="1325880"/>
          </a:xfrm>
          <a:prstGeom prst="roundRect">
            <a:avLst>
              <a:gd name="adj" fmla="val 8850"/>
            </a:avLst>
          </a:prstGeom>
          <a:solidFill>
            <a:srgbClr val="1B2547"/>
          </a:solidFill>
          <a:ln w="9525">
            <a:solidFill>
              <a:srgbClr val="2C3868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8756752" y="1673352"/>
            <a:ext cx="438912" cy="438912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42" name="Image 7" descr="/home/claude/crm/icons/databas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70869" y="1787469"/>
            <a:ext cx="210678" cy="21067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8413852" y="2221992"/>
            <a:ext cx="1124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30" dirty="0"/>
          </a:p>
        </p:txBody>
      </p:sp>
      <p:sp>
        <p:nvSpPr>
          <p:cNvPr id="44" name="Shape 34"/>
          <p:cNvSpPr/>
          <p:nvPr/>
        </p:nvSpPr>
        <p:spPr>
          <a:xfrm>
            <a:off x="9497416" y="2116836"/>
            <a:ext cx="109728" cy="109728"/>
          </a:xfrm>
          <a:prstGeom prst="rightArrow">
            <a:avLst/>
          </a:prstGeom>
          <a:solidFill>
            <a:srgbClr val="5B6796"/>
          </a:solidFill>
          <a:ln/>
        </p:spPr>
      </p:sp>
      <p:sp>
        <p:nvSpPr>
          <p:cNvPr id="45" name="Shape 35"/>
          <p:cNvSpPr/>
          <p:nvPr/>
        </p:nvSpPr>
        <p:spPr>
          <a:xfrm>
            <a:off x="9611716" y="1508760"/>
            <a:ext cx="1033272" cy="1325880"/>
          </a:xfrm>
          <a:prstGeom prst="roundRect">
            <a:avLst>
              <a:gd name="adj" fmla="val 8850"/>
            </a:avLst>
          </a:prstGeom>
          <a:solidFill>
            <a:srgbClr val="1B2547"/>
          </a:solidFill>
          <a:ln w="9525">
            <a:solidFill>
              <a:srgbClr val="2C3868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9908896" y="1673352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47" name="Image 8" descr="/home/claude/crm/icons/sen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3013" y="1787469"/>
            <a:ext cx="210678" cy="210678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9565996" y="2221992"/>
            <a:ext cx="1124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830" dirty="0"/>
          </a:p>
        </p:txBody>
      </p:sp>
      <p:sp>
        <p:nvSpPr>
          <p:cNvPr id="49" name="Shape 38"/>
          <p:cNvSpPr/>
          <p:nvPr/>
        </p:nvSpPr>
        <p:spPr>
          <a:xfrm>
            <a:off x="10649560" y="2116836"/>
            <a:ext cx="109728" cy="109728"/>
          </a:xfrm>
          <a:prstGeom prst="rightArrow">
            <a:avLst/>
          </a:prstGeom>
          <a:solidFill>
            <a:srgbClr val="5B6796"/>
          </a:solidFill>
          <a:ln/>
        </p:spPr>
      </p:sp>
      <p:sp>
        <p:nvSpPr>
          <p:cNvPr id="50" name="Shape 39"/>
          <p:cNvSpPr/>
          <p:nvPr/>
        </p:nvSpPr>
        <p:spPr>
          <a:xfrm>
            <a:off x="10763860" y="1508760"/>
            <a:ext cx="1033272" cy="1325880"/>
          </a:xfrm>
          <a:prstGeom prst="roundRect">
            <a:avLst>
              <a:gd name="adj" fmla="val 8850"/>
            </a:avLst>
          </a:prstGeom>
          <a:solidFill>
            <a:srgbClr val="1B2547"/>
          </a:solidFill>
          <a:ln w="9525">
            <a:solidFill>
              <a:srgbClr val="2C3868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11061040" y="1673352"/>
            <a:ext cx="438912" cy="438912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52" name="Image 9" descr="/home/claude/crm/icons/monito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5157" y="1787469"/>
            <a:ext cx="210678" cy="210678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10718140" y="2221992"/>
            <a:ext cx="1124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UI</a:t>
            </a:r>
            <a:endParaRPr lang="en-US" sz="830" dirty="0"/>
          </a:p>
        </p:txBody>
      </p:sp>
      <p:sp>
        <p:nvSpPr>
          <p:cNvPr id="54" name="Shape 42"/>
          <p:cNvSpPr/>
          <p:nvPr/>
        </p:nvSpPr>
        <p:spPr>
          <a:xfrm>
            <a:off x="11280496" y="2880360"/>
            <a:ext cx="0" cy="320040"/>
          </a:xfrm>
          <a:prstGeom prst="line">
            <a:avLst/>
          </a:prstGeom>
          <a:noFill/>
          <a:ln w="19050">
            <a:solidFill>
              <a:srgbClr val="5B6796"/>
            </a:solidFill>
            <a:prstDash val="solid"/>
            <a:tailEnd type="triangle"/>
          </a:ln>
        </p:spPr>
      </p:sp>
      <p:sp>
        <p:nvSpPr>
          <p:cNvPr id="55" name="Shape 43"/>
          <p:cNvSpPr/>
          <p:nvPr/>
        </p:nvSpPr>
        <p:spPr>
          <a:xfrm>
            <a:off x="911200" y="3154680"/>
            <a:ext cx="10369296" cy="0"/>
          </a:xfrm>
          <a:prstGeom prst="line">
            <a:avLst/>
          </a:prstGeom>
          <a:noFill/>
          <a:ln w="19050">
            <a:solidFill>
              <a:srgbClr val="5B6796"/>
            </a:solidFill>
            <a:prstDash val="solid"/>
          </a:ln>
        </p:spPr>
      </p:sp>
      <p:sp>
        <p:nvSpPr>
          <p:cNvPr id="56" name="Shape 44"/>
          <p:cNvSpPr/>
          <p:nvPr/>
        </p:nvSpPr>
        <p:spPr>
          <a:xfrm>
            <a:off x="911200" y="2880360"/>
            <a:ext cx="0" cy="320040"/>
          </a:xfrm>
          <a:prstGeom prst="line">
            <a:avLst/>
          </a:prstGeom>
          <a:noFill/>
          <a:ln w="19050">
            <a:solidFill>
              <a:srgbClr val="5B6796"/>
            </a:solidFill>
            <a:prstDash val="solid"/>
          </a:ln>
        </p:spPr>
      </p:sp>
      <p:sp>
        <p:nvSpPr>
          <p:cNvPr id="57" name="Text 45"/>
          <p:cNvSpPr/>
          <p:nvPr/>
        </p:nvSpPr>
        <p:spPr>
          <a:xfrm>
            <a:off x="3809848" y="3218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 the result and continues browsing</a:t>
            </a:r>
            <a:endParaRPr lang="en-US" sz="1000" dirty="0"/>
          </a:p>
        </p:txBody>
      </p:sp>
      <p:sp>
        <p:nvSpPr>
          <p:cNvPr id="58" name="Shape 46"/>
          <p:cNvSpPr/>
          <p:nvPr/>
        </p:nvSpPr>
        <p:spPr>
          <a:xfrm>
            <a:off x="457200" y="3931920"/>
            <a:ext cx="11274552" cy="1965960"/>
          </a:xfrm>
          <a:prstGeom prst="roundRect">
            <a:avLst>
              <a:gd name="adj" fmla="val 4186"/>
            </a:avLst>
          </a:prstGeom>
          <a:solidFill>
            <a:srgbClr val="1B2547"/>
          </a:solidFill>
          <a:ln/>
        </p:spPr>
      </p:sp>
      <p:sp>
        <p:nvSpPr>
          <p:cNvPr id="59" name="Shape 47"/>
          <p:cNvSpPr/>
          <p:nvPr/>
        </p:nvSpPr>
        <p:spPr>
          <a:xfrm>
            <a:off x="777240" y="4169664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0" name="Text 48"/>
          <p:cNvSpPr/>
          <p:nvPr/>
        </p:nvSpPr>
        <p:spPr>
          <a:xfrm>
            <a:off x="1005840" y="405993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renders the interface the user interacts with.</a:t>
            </a:r>
            <a:endParaRPr lang="en-US" sz="1200" dirty="0"/>
          </a:p>
        </p:txBody>
      </p:sp>
      <p:sp>
        <p:nvSpPr>
          <p:cNvPr id="61" name="Shape 49"/>
          <p:cNvSpPr/>
          <p:nvPr/>
        </p:nvSpPr>
        <p:spPr>
          <a:xfrm>
            <a:off x="777240" y="455371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2" name="Text 50"/>
          <p:cNvSpPr/>
          <p:nvPr/>
        </p:nvSpPr>
        <p:spPr>
          <a:xfrm>
            <a:off x="1005840" y="444398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protected request carries a JWT the backend middleware verifies.</a:t>
            </a:r>
            <a:endParaRPr lang="en-US" sz="1200" dirty="0"/>
          </a:p>
        </p:txBody>
      </p:sp>
      <p:sp>
        <p:nvSpPr>
          <p:cNvPr id="63" name="Shape 51"/>
          <p:cNvSpPr/>
          <p:nvPr/>
        </p:nvSpPr>
        <p:spPr>
          <a:xfrm>
            <a:off x="777240" y="493776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4" name="Text 52"/>
          <p:cNvSpPr/>
          <p:nvPr/>
        </p:nvSpPr>
        <p:spPr>
          <a:xfrm>
            <a:off x="1005840" y="48280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controllers run the business logic and talk to MongoDB.</a:t>
            </a:r>
            <a:endParaRPr lang="en-US" sz="1200" dirty="0"/>
          </a:p>
        </p:txBody>
      </p:sp>
      <p:sp>
        <p:nvSpPr>
          <p:cNvPr id="65" name="Shape 53"/>
          <p:cNvSpPr/>
          <p:nvPr/>
        </p:nvSpPr>
        <p:spPr>
          <a:xfrm>
            <a:off x="777240" y="5321808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66" name="Text 54"/>
          <p:cNvSpPr/>
          <p:nvPr/>
        </p:nvSpPr>
        <p:spPr>
          <a:xfrm>
            <a:off x="1005840" y="521208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stores and returns the data as JSON, sent back to the UI.</a:t>
            </a:r>
            <a:endParaRPr lang="en-US" sz="1200" dirty="0"/>
          </a:p>
        </p:txBody>
      </p:sp>
      <p:sp>
        <p:nvSpPr>
          <p:cNvPr id="67" name="Text 5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CRM360 · Project Overview</a:t>
            </a:r>
            <a:endParaRPr lang="en-US" sz="900" dirty="0"/>
          </a:p>
        </p:txBody>
      </p:sp>
      <p:sp>
        <p:nvSpPr>
          <p:cNvPr id="68" name="Text 5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74090" cy="310896"/>
          </a:xfrm>
          <a:prstGeom prst="roundRect">
            <a:avLst>
              <a:gd name="adj" fmla="val 50000"/>
            </a:avLst>
          </a:prstGeom>
          <a:solidFill>
            <a:srgbClr val="EF4444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4904"/>
            <a:ext cx="11740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&amp; Security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6576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7" name="Image 0" descr="/home/claude/crm/icons/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17627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624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9077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bcrypt before storage — plaintext is never saved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51960" y="1874520"/>
            <a:ext cx="36576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34840" y="205740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2" name="Image 1" descr="/home/claude/crm/icons/ke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217627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34840" y="2624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434840" y="29077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tokens issued on login; verified on every protected request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046720" y="1874520"/>
            <a:ext cx="36576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0" y="205740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7" name="Image 2" descr="/home/claude/crm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217627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0" y="2624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229600" y="29077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scale by role so users only reach what they're allowed to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57200" y="3730752"/>
            <a:ext cx="36576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" y="3913632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2" name="Image 3" descr="/home/claude/crm/icons/gitbranc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4032504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0080" y="4480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API Routes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0080" y="476402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 checks the token before any controller runs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251960" y="3730752"/>
            <a:ext cx="36576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34840" y="3913632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7" name="Image 4" descr="/home/claude/crm/icons/ale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3712" y="4032504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434840" y="4480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434840" y="476402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(DB URI, JWT secret) kept out of source control via .env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8046720" y="3730752"/>
            <a:ext cx="36576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29600" y="3913632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32" name="Image 5" descr="/home/claude/crm/icons/checkcircl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8472" y="4032504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229600" y="4480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8229600" y="476402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validate data on the frontend before it reaches the API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CRM360 · Project Overview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66190" cy="310896"/>
          </a:xfrm>
          <a:prstGeom prst="roundRect">
            <a:avLst>
              <a:gd name="adj" fmla="val 50000"/>
            </a:avLst>
          </a:prstGeom>
          <a:solidFill>
            <a:srgbClr val="16A34A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4904"/>
            <a:ext cx="10661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Checklist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 before — or during — a live demo.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7716" y="1874520"/>
            <a:ext cx="272491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2308" y="2039112"/>
            <a:ext cx="438912" cy="438912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8" name="Image 0" descr="/home/claude/crm/icons/monit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25" y="2153229"/>
            <a:ext cx="210678" cy="21067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2308" y="256946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32308" y="284378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render correctly, navigation works across all modules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3311500" y="1874520"/>
            <a:ext cx="272491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6092" y="2039112"/>
            <a:ext cx="438912" cy="438912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3" name="Image 1" descr="/home/claude/crm/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209" y="2153229"/>
            <a:ext cx="210678" cy="21067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6092" y="256946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476092" y="284378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endpoint returns the expected response and status code</a:t>
            </a:r>
            <a:endParaRPr lang="en-US" sz="930" dirty="0"/>
          </a:p>
        </p:txBody>
      </p:sp>
      <p:sp>
        <p:nvSpPr>
          <p:cNvPr id="16" name="Shape 12"/>
          <p:cNvSpPr/>
          <p:nvPr/>
        </p:nvSpPr>
        <p:spPr>
          <a:xfrm>
            <a:off x="6155284" y="1874520"/>
            <a:ext cx="272491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19876" y="2039112"/>
            <a:ext cx="438912" cy="438912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8" name="Image 2" descr="/home/claude/crm/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3993" y="2153229"/>
            <a:ext cx="210678" cy="21067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19876" y="256946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319876" y="284378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persist correctly after create / update / delete</a:t>
            </a:r>
            <a:endParaRPr lang="en-US" sz="930" dirty="0"/>
          </a:p>
        </p:txBody>
      </p:sp>
      <p:sp>
        <p:nvSpPr>
          <p:cNvPr id="21" name="Shape 16"/>
          <p:cNvSpPr/>
          <p:nvPr/>
        </p:nvSpPr>
        <p:spPr>
          <a:xfrm>
            <a:off x="8999068" y="1874520"/>
            <a:ext cx="272491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163660" y="2039112"/>
            <a:ext cx="438912" cy="438912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3" name="Image 3" descr="/home/claude/crm/icons/loginbox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7777" y="2153229"/>
            <a:ext cx="210678" cy="21067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63660" y="256946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Testing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9163660" y="284378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credentials succeed; wrong ones show a clear error</a:t>
            </a:r>
            <a:endParaRPr lang="en-US" sz="930" dirty="0"/>
          </a:p>
        </p:txBody>
      </p:sp>
      <p:sp>
        <p:nvSpPr>
          <p:cNvPr id="26" name="Shape 20"/>
          <p:cNvSpPr/>
          <p:nvPr/>
        </p:nvSpPr>
        <p:spPr>
          <a:xfrm>
            <a:off x="467716" y="4069080"/>
            <a:ext cx="272491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32308" y="4233672"/>
            <a:ext cx="438912" cy="438912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8" name="Image 4" descr="/home/claude/crm/icons/userplu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425" y="4347789"/>
            <a:ext cx="210678" cy="21067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32308" y="476402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Testing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632308" y="503834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accounts are created and duplicate emails are rejected</a:t>
            </a:r>
            <a:endParaRPr lang="en-US" sz="930" dirty="0"/>
          </a:p>
        </p:txBody>
      </p:sp>
      <p:sp>
        <p:nvSpPr>
          <p:cNvPr id="31" name="Shape 24"/>
          <p:cNvSpPr/>
          <p:nvPr/>
        </p:nvSpPr>
        <p:spPr>
          <a:xfrm>
            <a:off x="3311500" y="4069080"/>
            <a:ext cx="272491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476092" y="4233672"/>
            <a:ext cx="438912" cy="438912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3" name="Image 5" descr="/home/claude/crm/icons/checkcircl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0209" y="4347789"/>
            <a:ext cx="210678" cy="21067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476092" y="476402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3476092" y="503834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fields, email format and password rules are enforced</a:t>
            </a:r>
            <a:endParaRPr lang="en-US" sz="930" dirty="0"/>
          </a:p>
        </p:txBody>
      </p:sp>
      <p:sp>
        <p:nvSpPr>
          <p:cNvPr id="36" name="Shape 28"/>
          <p:cNvSpPr/>
          <p:nvPr/>
        </p:nvSpPr>
        <p:spPr>
          <a:xfrm>
            <a:off x="6155284" y="4069080"/>
            <a:ext cx="272491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319876" y="4233672"/>
            <a:ext cx="438912" cy="438912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8" name="Image 6" descr="/home/claude/crm/icons/aler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3993" y="4347789"/>
            <a:ext cx="210678" cy="21067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319876" y="476402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6319876" y="503834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Network/server failures show a friendly message, not a crash</a:t>
            </a:r>
            <a:endParaRPr lang="en-US" sz="930" dirty="0"/>
          </a:p>
        </p:txBody>
      </p:sp>
      <p:sp>
        <p:nvSpPr>
          <p:cNvPr id="41" name="Shape 32"/>
          <p:cNvSpPr/>
          <p:nvPr/>
        </p:nvSpPr>
        <p:spPr>
          <a:xfrm>
            <a:off x="8999068" y="4069080"/>
            <a:ext cx="272491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163660" y="4233672"/>
            <a:ext cx="438912" cy="438912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43" name="Image 7" descr="/home/claude/crm/icons/monit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7777" y="4347789"/>
            <a:ext cx="210678" cy="21067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163660" y="476402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/ Mobile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9163660" y="503834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adapts cleanly across desktop and smaller screens</a:t>
            </a:r>
            <a:endParaRPr lang="en-US" sz="930" dirty="0"/>
          </a:p>
        </p:txBody>
      </p:sp>
      <p:sp>
        <p:nvSpPr>
          <p:cNvPr id="46" name="Text 3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CRM360 · Project Overview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1989" cy="310896"/>
          </a:xfrm>
          <a:prstGeom prst="roundRect">
            <a:avLst>
              <a:gd name="adj" fmla="val 50000"/>
            </a:avLst>
          </a:prstGeom>
          <a:solidFill>
            <a:srgbClr val="2563EB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4904"/>
            <a:ext cx="12819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suggested sequence for presenting CRM360 live.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255368" y="1783080"/>
            <a:ext cx="768096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01672" y="1874520"/>
            <a:ext cx="338328" cy="3383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" name="Image 0" descr="/home/claude/crm/icons/monit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637" y="1962485"/>
            <a:ext cx="162397" cy="16239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868016" y="1783080"/>
            <a:ext cx="6958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website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871320" y="1897380"/>
            <a:ext cx="292608" cy="292608"/>
          </a:xfrm>
          <a:prstGeom prst="ellipse">
            <a:avLst/>
          </a:prstGeom>
          <a:solidFill>
            <a:srgbClr val="0F1730"/>
          </a:solidFill>
          <a:ln/>
        </p:spPr>
      </p:sp>
      <p:sp>
        <p:nvSpPr>
          <p:cNvPr id="11" name="Text 8"/>
          <p:cNvSpPr/>
          <p:nvPr/>
        </p:nvSpPr>
        <p:spPr>
          <a:xfrm>
            <a:off x="1871320" y="1888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575408" y="2308860"/>
            <a:ext cx="109728" cy="59436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13" name="Shape 10"/>
          <p:cNvSpPr/>
          <p:nvPr/>
        </p:nvSpPr>
        <p:spPr>
          <a:xfrm>
            <a:off x="2255368" y="2377440"/>
            <a:ext cx="768096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01672" y="2468880"/>
            <a:ext cx="338328" cy="3383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5" name="Image 1" descr="/home/claude/crm/icons/userplu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9637" y="2556845"/>
            <a:ext cx="162397" cy="16239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68016" y="2377440"/>
            <a:ext cx="6958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new user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1871320" y="2491740"/>
            <a:ext cx="292608" cy="292608"/>
          </a:xfrm>
          <a:prstGeom prst="ellipse">
            <a:avLst/>
          </a:prstGeom>
          <a:solidFill>
            <a:srgbClr val="0F1730"/>
          </a:solidFill>
          <a:ln/>
        </p:spPr>
      </p:sp>
      <p:sp>
        <p:nvSpPr>
          <p:cNvPr id="18" name="Text 14"/>
          <p:cNvSpPr/>
          <p:nvPr/>
        </p:nvSpPr>
        <p:spPr>
          <a:xfrm>
            <a:off x="1871320" y="24825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2575408" y="2903220"/>
            <a:ext cx="109728" cy="59436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20" name="Shape 16"/>
          <p:cNvSpPr/>
          <p:nvPr/>
        </p:nvSpPr>
        <p:spPr>
          <a:xfrm>
            <a:off x="2255368" y="2971800"/>
            <a:ext cx="768096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401672" y="3063240"/>
            <a:ext cx="338328" cy="3383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2" name="Image 2" descr="/home/claude/crm/icons/loginbox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9637" y="3151205"/>
            <a:ext cx="162397" cy="16239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868016" y="2971800"/>
            <a:ext cx="6958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1871320" y="3086100"/>
            <a:ext cx="292608" cy="292608"/>
          </a:xfrm>
          <a:prstGeom prst="ellipse">
            <a:avLst/>
          </a:prstGeom>
          <a:solidFill>
            <a:srgbClr val="0F1730"/>
          </a:solidFill>
          <a:ln/>
        </p:spPr>
      </p:sp>
      <p:sp>
        <p:nvSpPr>
          <p:cNvPr id="25" name="Text 20"/>
          <p:cNvSpPr/>
          <p:nvPr/>
        </p:nvSpPr>
        <p:spPr>
          <a:xfrm>
            <a:off x="1871320" y="30769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2575408" y="3497580"/>
            <a:ext cx="109728" cy="59436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27" name="Shape 22"/>
          <p:cNvSpPr/>
          <p:nvPr/>
        </p:nvSpPr>
        <p:spPr>
          <a:xfrm>
            <a:off x="2255368" y="3566160"/>
            <a:ext cx="768096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2401672" y="3657600"/>
            <a:ext cx="338328" cy="3383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9" name="Image 3" descr="/home/claude/crm/icons/layou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9637" y="3745565"/>
            <a:ext cx="162397" cy="162397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2868016" y="3566160"/>
            <a:ext cx="6958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Dashboard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1871320" y="3680460"/>
            <a:ext cx="292608" cy="292608"/>
          </a:xfrm>
          <a:prstGeom prst="ellipse">
            <a:avLst/>
          </a:prstGeom>
          <a:solidFill>
            <a:srgbClr val="0F1730"/>
          </a:solidFill>
          <a:ln/>
        </p:spPr>
      </p:sp>
      <p:sp>
        <p:nvSpPr>
          <p:cNvPr id="32" name="Text 26"/>
          <p:cNvSpPr/>
          <p:nvPr/>
        </p:nvSpPr>
        <p:spPr>
          <a:xfrm>
            <a:off x="1871320" y="36713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2575408" y="4091940"/>
            <a:ext cx="109728" cy="59436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34" name="Shape 28"/>
          <p:cNvSpPr/>
          <p:nvPr/>
        </p:nvSpPr>
        <p:spPr>
          <a:xfrm>
            <a:off x="2255368" y="4160520"/>
            <a:ext cx="768096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2401672" y="4251960"/>
            <a:ext cx="338328" cy="3383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6" name="Image 4" descr="/home/claude/crm/icons/targe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9637" y="4339925"/>
            <a:ext cx="162397" cy="162397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2868016" y="4160520"/>
            <a:ext cx="6958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main feature (Leads / Customers)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1871320" y="4274820"/>
            <a:ext cx="292608" cy="292608"/>
          </a:xfrm>
          <a:prstGeom prst="ellipse">
            <a:avLst/>
          </a:prstGeom>
          <a:solidFill>
            <a:srgbClr val="0F1730"/>
          </a:solidFill>
          <a:ln/>
        </p:spPr>
      </p:sp>
      <p:sp>
        <p:nvSpPr>
          <p:cNvPr id="39" name="Text 32"/>
          <p:cNvSpPr/>
          <p:nvPr/>
        </p:nvSpPr>
        <p:spPr>
          <a:xfrm>
            <a:off x="1871320" y="42656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2575408" y="4686300"/>
            <a:ext cx="109728" cy="59436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41" name="Shape 34"/>
          <p:cNvSpPr/>
          <p:nvPr/>
        </p:nvSpPr>
        <p:spPr>
          <a:xfrm>
            <a:off x="2255368" y="4754880"/>
            <a:ext cx="768096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2401672" y="4846320"/>
            <a:ext cx="338328" cy="3383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3" name="Image 5" descr="/home/claude/crm/icons/databas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9637" y="4934285"/>
            <a:ext cx="162397" cy="162397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2868016" y="4754880"/>
            <a:ext cx="6958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Analytics / API result</a:t>
            </a:r>
            <a:endParaRPr lang="en-US" sz="1250" dirty="0"/>
          </a:p>
        </p:txBody>
      </p:sp>
      <p:sp>
        <p:nvSpPr>
          <p:cNvPr id="45" name="Shape 37"/>
          <p:cNvSpPr/>
          <p:nvPr/>
        </p:nvSpPr>
        <p:spPr>
          <a:xfrm>
            <a:off x="1871320" y="4869180"/>
            <a:ext cx="292608" cy="292608"/>
          </a:xfrm>
          <a:prstGeom prst="ellipse">
            <a:avLst/>
          </a:prstGeom>
          <a:solidFill>
            <a:srgbClr val="0F1730"/>
          </a:solidFill>
          <a:ln/>
        </p:spPr>
      </p:sp>
      <p:sp>
        <p:nvSpPr>
          <p:cNvPr id="46" name="Text 38"/>
          <p:cNvSpPr/>
          <p:nvPr/>
        </p:nvSpPr>
        <p:spPr>
          <a:xfrm>
            <a:off x="1871320" y="48600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7" name="Shape 39"/>
          <p:cNvSpPr/>
          <p:nvPr/>
        </p:nvSpPr>
        <p:spPr>
          <a:xfrm>
            <a:off x="2575408" y="5280660"/>
            <a:ext cx="109728" cy="59436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48" name="Shape 40"/>
          <p:cNvSpPr/>
          <p:nvPr/>
        </p:nvSpPr>
        <p:spPr>
          <a:xfrm>
            <a:off x="2255368" y="5349240"/>
            <a:ext cx="768096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9" name="Shape 41"/>
          <p:cNvSpPr/>
          <p:nvPr/>
        </p:nvSpPr>
        <p:spPr>
          <a:xfrm>
            <a:off x="2401672" y="5440680"/>
            <a:ext cx="338328" cy="3383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0" name="Image 6" descr="/home/claude/crm/icons/logou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89637" y="5528645"/>
            <a:ext cx="162397" cy="162397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2868016" y="5349240"/>
            <a:ext cx="6958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250" dirty="0"/>
          </a:p>
        </p:txBody>
      </p:sp>
      <p:sp>
        <p:nvSpPr>
          <p:cNvPr id="52" name="Shape 43"/>
          <p:cNvSpPr/>
          <p:nvPr/>
        </p:nvSpPr>
        <p:spPr>
          <a:xfrm>
            <a:off x="1871320" y="5463540"/>
            <a:ext cx="292608" cy="292608"/>
          </a:xfrm>
          <a:prstGeom prst="ellipse">
            <a:avLst/>
          </a:prstGeom>
          <a:solidFill>
            <a:srgbClr val="0F1730"/>
          </a:solidFill>
          <a:ln/>
        </p:spPr>
      </p:sp>
      <p:sp>
        <p:nvSpPr>
          <p:cNvPr id="53" name="Text 44"/>
          <p:cNvSpPr/>
          <p:nvPr/>
        </p:nvSpPr>
        <p:spPr>
          <a:xfrm>
            <a:off x="1871320" y="54543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4" name="Text 4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CRM360 · Project Overview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929384" cy="310896"/>
          </a:xfrm>
          <a:prstGeom prst="roundRect">
            <a:avLst>
              <a:gd name="adj" fmla="val 50000"/>
            </a:avLst>
          </a:prstGeom>
          <a:solidFill>
            <a:srgbClr val="F97316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4904"/>
            <a:ext cx="192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Problems &amp; Solutions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0F173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00600" y="1874520"/>
            <a:ext cx="6583680" cy="457200"/>
          </a:xfrm>
          <a:prstGeom prst="roundRect">
            <a:avLst>
              <a:gd name="adj" fmla="val 12000"/>
            </a:avLst>
          </a:prstGeom>
          <a:solidFill>
            <a:srgbClr val="0F1730"/>
          </a:solidFill>
          <a:ln/>
        </p:spPr>
      </p:sp>
      <p:sp>
        <p:nvSpPr>
          <p:cNvPr id="8" name="Text 6"/>
          <p:cNvSpPr/>
          <p:nvPr/>
        </p:nvSpPr>
        <p:spPr>
          <a:xfrm>
            <a:off x="4983480" y="18745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Solution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4206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0487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error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2404872"/>
            <a:ext cx="6583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404872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Node.js / npm version matches the project's requirement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935224"/>
            <a:ext cx="420624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352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connection failed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2935224"/>
            <a:ext cx="658368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935224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database URI / credentials and that MongoDB is running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465576"/>
            <a:ext cx="4206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46557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already in use (5000 / 5173)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3465576"/>
            <a:ext cx="6583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465576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conflicting process or change the port in .env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995928"/>
            <a:ext cx="420624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99592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not responding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3995928"/>
            <a:ext cx="658368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995928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backend server (npm start) is actually running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526280"/>
            <a:ext cx="4206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52628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not working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4526280"/>
            <a:ext cx="6583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4526280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database connection and the JWT_SECRET configuration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5056632"/>
            <a:ext cx="420624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05663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error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5056632"/>
            <a:ext cx="658368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5056632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backend's CORS configuration allows the client's origin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5586984"/>
            <a:ext cx="4206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58698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 missing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0600" y="5586984"/>
            <a:ext cx="6583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5586984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.env exists in server/ with all required keys set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CRM360 · Project Overview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B254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06B6D4">
              <a:alpha val="13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4805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All Together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 w="9525">
            <a:solidFill>
              <a:srgbClr val="2C38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0136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" name="Image 0" descr="/home/claude/crm/icons/layou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920240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819656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234440" y="2130552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4233672" y="1600200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 w="9525">
            <a:solidFill>
              <a:srgbClr val="2C386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16552" y="180136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3" name="Image 1" descr="/home/claude/crm/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192024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10912" y="1819656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010912" y="2130552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&amp; APIs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8010144" y="1600200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 w="9525">
            <a:solidFill>
              <a:srgbClr val="2C386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93024" y="1801368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8" name="Image 2" descr="/home/claude/crm/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896" y="192024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87384" y="1819656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787384" y="2130552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980" dirty="0"/>
          </a:p>
        </p:txBody>
      </p:sp>
      <p:sp>
        <p:nvSpPr>
          <p:cNvPr id="21" name="Shape 16"/>
          <p:cNvSpPr/>
          <p:nvPr/>
        </p:nvSpPr>
        <p:spPr>
          <a:xfrm>
            <a:off x="457200" y="3108960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 w="9525">
            <a:solidFill>
              <a:srgbClr val="2C386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" y="3310128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3" name="Image 3" descr="/home/claude/crm/icons/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3429000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34440" y="3328416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1234440" y="3639312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Security</a:t>
            </a:r>
            <a:endParaRPr lang="en-US" sz="980" dirty="0"/>
          </a:p>
        </p:txBody>
      </p:sp>
      <p:sp>
        <p:nvSpPr>
          <p:cNvPr id="26" name="Shape 20"/>
          <p:cNvSpPr/>
          <p:nvPr/>
        </p:nvSpPr>
        <p:spPr>
          <a:xfrm>
            <a:off x="4233672" y="3108960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 w="9525">
            <a:solidFill>
              <a:srgbClr val="2C386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416552" y="331012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8" name="Image 4" descr="/home/claude/crm/icons/gitbranc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5424" y="3429000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010912" y="3328416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5010912" y="3639312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↔ Backend Communication</a:t>
            </a:r>
            <a:endParaRPr lang="en-US" sz="980" dirty="0"/>
          </a:p>
        </p:txBody>
      </p:sp>
      <p:sp>
        <p:nvSpPr>
          <p:cNvPr id="31" name="Shape 24"/>
          <p:cNvSpPr/>
          <p:nvPr/>
        </p:nvSpPr>
        <p:spPr>
          <a:xfrm>
            <a:off x="8010144" y="3108960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 w="9525">
            <a:solidFill>
              <a:srgbClr val="2C386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193024" y="3310128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33" name="Image 5" descr="/home/claude/crm/icons/clou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1896" y="3429000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787384" y="3328416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8787384" y="3639312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Website Available Online</a:t>
            </a:r>
            <a:endParaRPr lang="en-US" sz="980" dirty="0"/>
          </a:p>
        </p:txBody>
      </p:sp>
      <p:sp>
        <p:nvSpPr>
          <p:cNvPr id="36" name="Text 28"/>
          <p:cNvSpPr/>
          <p:nvPr/>
        </p:nvSpPr>
        <p:spPr>
          <a:xfrm>
            <a:off x="4754880" y="5669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37" name="Text 29"/>
          <p:cNvSpPr/>
          <p:nvPr/>
        </p:nvSpPr>
        <p:spPr>
          <a:xfrm>
            <a:off x="457200" y="5742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2081</Words>
  <Application>Microsoft Office PowerPoint</Application>
  <PresentationFormat>Widescreen</PresentationFormat>
  <Paragraphs>473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Say My Name</cp:lastModifiedBy>
  <cp:revision>2</cp:revision>
  <dcterms:created xsi:type="dcterms:W3CDTF">2026-09-11T06:04:20Z</dcterms:created>
  <dcterms:modified xsi:type="dcterms:W3CDTF">2026-09-11T06:31:19Z</dcterms:modified>
</cp:coreProperties>
</file>